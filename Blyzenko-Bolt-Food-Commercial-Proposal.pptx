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4D186"/>
                </a:solidFill>
                <a:latin typeface="Arial"/>
              </a:rPr>
              <a:t>КОМЕРЦІЙНА ПРОПОЗИЦІЯ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Близенько × Bolt 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9CED6"/>
                </a:solidFill>
                <a:latin typeface="Arial"/>
              </a:rPr>
              <a:t>Якірний рітейл регіону — другий канал, що додає оборот без канібалізації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AA0AC"/>
                </a:solidFill>
                <a:latin typeface="Arial"/>
              </a:rPr>
              <a:t>Україна · Червень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MEET BOLT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Вся екосистема в одному застосунку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53384" cy="2103120"/>
          </a:xfrm>
          <a:prstGeom prst="roundRect">
            <a:avLst>
              <a:gd name="adj" fmla="val 7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53384" cy="594360"/>
          </a:xfrm>
          <a:prstGeom prst="roundRect">
            <a:avLst>
              <a:gd name="adj" fmla="val 7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45338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Таксі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453384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40+ країн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F313F"/>
                </a:solidFill>
                <a:latin typeface="Arial"/>
              </a:rPr>
              <a:t>500+ міст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2194560"/>
            <a:ext cx="3453384" cy="2103120"/>
          </a:xfrm>
          <a:prstGeom prst="roundRect">
            <a:avLst>
              <a:gd name="adj" fmla="val 7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7784" y="2194560"/>
            <a:ext cx="3453384" cy="594360"/>
          </a:xfrm>
          <a:prstGeom prst="roundRect">
            <a:avLst>
              <a:gd name="adj" fmla="val 7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784" y="2194560"/>
            <a:ext cx="345338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Доставка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7784" y="2788920"/>
            <a:ext cx="3453384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15+ країн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F313F"/>
                </a:solidFill>
                <a:latin typeface="Arial"/>
              </a:rPr>
              <a:t>200+ міст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2194560"/>
            <a:ext cx="3453384" cy="2103120"/>
          </a:xfrm>
          <a:prstGeom prst="roundRect">
            <a:avLst>
              <a:gd name="adj" fmla="val 7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5488" y="2194560"/>
            <a:ext cx="3453384" cy="594360"/>
          </a:xfrm>
          <a:prstGeom prst="roundRect">
            <a:avLst>
              <a:gd name="adj" fmla="val 7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5488" y="2194560"/>
            <a:ext cx="345338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Оренда / самокати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5488" y="2788920"/>
            <a:ext cx="3453384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F313F"/>
                </a:solidFill>
                <a:latin typeface="Arial"/>
              </a:rPr>
              <a:t>20+ країн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2F313F"/>
                </a:solidFill>
                <a:latin typeface="Arial"/>
              </a:rPr>
              <a:t>200+ міст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Arial"/>
              </a:rPr>
              <a:t>Крос-вертикальний ефект: користувачів таксі та Food ми конвертуємо у покупців Близенько — нові цифрові клієнти поза вашою офлайн-базою.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BOLT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Bolt — у цифрах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050084" cy="18288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542032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18306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країн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4756" y="2286000"/>
            <a:ext cx="2050084" cy="18288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6196" y="2542032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850+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4484" y="3246120"/>
            <a:ext cx="18306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міст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9433" y="2286000"/>
            <a:ext cx="2050084" cy="18288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0873" y="2542032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4 млн+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9161" y="3246120"/>
            <a:ext cx="18306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замовлень/день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4110" y="2286000"/>
            <a:ext cx="2050084" cy="18288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5550" y="2542032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€12 млрд+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3838" y="3246120"/>
            <a:ext cx="18306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GMV run-rate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8787" y="2286000"/>
            <a:ext cx="2050084" cy="18288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90227" y="2542032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30%+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8515" y="3246120"/>
            <a:ext cx="18306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GMV CAGR 21–25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Arial"/>
              </a:rPr>
              <a:t>Один застосунок: доставка їжі та товарів, таксі, оренда — мільйони активних клієнтів в Україні.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СЕГМЕНТ STORES У BOLT 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Напрям магазинів зростає шість місяців поспіль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6400800" cy="338328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186"/>
                </a:solidFill>
                <a:latin typeface="Arial"/>
              </a:rPr>
              <a:t>▲ стабільне зростання 6 міс поспіль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5438" y="4504334"/>
            <a:ext cx="604723" cy="570585"/>
          </a:xfrm>
          <a:prstGeom prst="roundRect">
            <a:avLst>
              <a:gd name="adj" fmla="val 4000"/>
            </a:avLst>
          </a:prstGeom>
          <a:solidFill>
            <a:srgbClr val="BF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5438" y="4504334"/>
            <a:ext cx="604723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278" y="5120640"/>
            <a:ext cx="8790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080"/>
                </a:solidFill>
                <a:latin typeface="Arial"/>
              </a:rPr>
              <a:t>–5 міс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0798" y="4219041"/>
            <a:ext cx="604723" cy="855878"/>
          </a:xfrm>
          <a:prstGeom prst="roundRect">
            <a:avLst>
              <a:gd name="adj" fmla="val 4000"/>
            </a:avLst>
          </a:prstGeom>
          <a:solidFill>
            <a:srgbClr val="BF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0798" y="4219041"/>
            <a:ext cx="604723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3638" y="5120640"/>
            <a:ext cx="8790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080"/>
                </a:solidFill>
                <a:latin typeface="Arial"/>
              </a:rPr>
              <a:t>–4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6158" y="3911803"/>
            <a:ext cx="604723" cy="1163116"/>
          </a:xfrm>
          <a:prstGeom prst="roundRect">
            <a:avLst>
              <a:gd name="adj" fmla="val 4000"/>
            </a:avLst>
          </a:prstGeom>
          <a:solidFill>
            <a:srgbClr val="BF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6158" y="3911803"/>
            <a:ext cx="604723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8998" y="5120640"/>
            <a:ext cx="8790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080"/>
                </a:solidFill>
                <a:latin typeface="Arial"/>
              </a:rPr>
              <a:t>–3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71518" y="3560673"/>
            <a:ext cx="604723" cy="1514246"/>
          </a:xfrm>
          <a:prstGeom prst="roundRect">
            <a:avLst>
              <a:gd name="adj" fmla="val 4000"/>
            </a:avLst>
          </a:prstGeom>
          <a:solidFill>
            <a:srgbClr val="BF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71518" y="3560673"/>
            <a:ext cx="604723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4358" y="5120640"/>
            <a:ext cx="8790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080"/>
                </a:solidFill>
                <a:latin typeface="Arial"/>
              </a:rPr>
              <a:t>–2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6878" y="3231489"/>
            <a:ext cx="604723" cy="1843430"/>
          </a:xfrm>
          <a:prstGeom prst="roundRect">
            <a:avLst>
              <a:gd name="adj" fmla="val 4000"/>
            </a:avLst>
          </a:prstGeom>
          <a:solidFill>
            <a:srgbClr val="BF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6878" y="3231489"/>
            <a:ext cx="604723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9718" y="5120640"/>
            <a:ext cx="8790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080"/>
                </a:solidFill>
                <a:latin typeface="Arial"/>
              </a:rPr>
              <a:t>–1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22238" y="2880360"/>
            <a:ext cx="604723" cy="2194560"/>
          </a:xfrm>
          <a:prstGeom prst="roundRect">
            <a:avLst>
              <a:gd name="adj" fmla="val 4000"/>
            </a:avLst>
          </a:prstGeom>
          <a:solidFill>
            <a:srgbClr val="BF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22238" y="2880360"/>
            <a:ext cx="604723" cy="6400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5078" y="5120640"/>
            <a:ext cx="8790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080"/>
                </a:solidFill>
                <a:latin typeface="Arial"/>
              </a:rPr>
              <a:t>Зараз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194560"/>
            <a:ext cx="4187952" cy="1024128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340864"/>
            <a:ext cx="38221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4D186"/>
                </a:solidFill>
                <a:latin typeface="Arial"/>
              </a:rPr>
              <a:t>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743200"/>
            <a:ext cx="38221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найшвидше зростаючий сегмент Bolt Food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364991"/>
            <a:ext cx="4187952" cy="1024128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3511296"/>
            <a:ext cx="38221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4D186"/>
                </a:solidFill>
                <a:latin typeface="Arial"/>
              </a:rPr>
              <a:t>×4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913631"/>
            <a:ext cx="38221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зростання активних локацій за 6 міс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4535424"/>
            <a:ext cx="4187952" cy="1024128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681728"/>
            <a:ext cx="38221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4D186"/>
                </a:solidFill>
                <a:latin typeface="Arial"/>
              </a:rPr>
              <a:t>↗ частка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084064"/>
            <a:ext cx="38221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напрям збільшує вагу в сегменті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080"/>
                </a:solidFill>
                <a:latin typeface="Arial"/>
              </a:rPr>
              <a:t>Активні локації stores (стовпчики) · частка stores у сегменті. Дані ілюстративні, без точних значень.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ЩО МИ ДАЄМО ЯК КОМПАНІЯ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Чому Bolt для Близенько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317236" cy="173736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31136"/>
            <a:ext cx="64008" cy="1664207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4860036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313F"/>
                </a:solidFill>
                <a:latin typeface="Arial"/>
              </a:rPr>
              <a:t>100% інкрементальний канал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6B7080"/>
                </a:solidFill>
                <a:latin typeface="Arial"/>
              </a:rPr>
              <a:t>Близенько = 0 на Bolt Food. Кожне замовлення — поверх наявного каналу, без канібалізації + диверсифікація залежності від однієї платформи.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2194560"/>
            <a:ext cx="5317236" cy="173736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1636" y="2231136"/>
            <a:ext cx="64008" cy="1664207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7668" y="2377440"/>
            <a:ext cx="4860036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313F"/>
                </a:solidFill>
                <a:latin typeface="Arial"/>
              </a:rPr>
              <a:t>Профіль під q-commerce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6B7080"/>
                </a:solidFill>
                <a:latin typeface="Arial"/>
              </a:rPr>
              <a:t>Продукти біля дому — висока частота й повторні покупки. Ідеально під Bolt+ і безкоштовну доставку.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79"/>
            <a:ext cx="5317236" cy="173736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05655"/>
            <a:ext cx="64008" cy="1664207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251959"/>
            <a:ext cx="4860036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313F"/>
                </a:solidFill>
                <a:latin typeface="Arial"/>
              </a:rPr>
              <a:t>Дірект-інтеграція POS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6B7080"/>
                </a:solidFill>
                <a:latin typeface="Arial"/>
              </a:rPr>
              <a:t>Ваші реальні ціни, синхронізація стоків, контроль асортименту й промо. Capex на інтеграцію — на нас.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69079"/>
            <a:ext cx="5317236" cy="173736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4105655"/>
            <a:ext cx="64008" cy="1664207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7668" y="4251959"/>
            <a:ext cx="4860036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313F"/>
                </a:solidFill>
                <a:latin typeface="Arial"/>
              </a:rPr>
              <a:t>Регіональна сила на Заході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6B7080"/>
                </a:solidFill>
                <a:latin typeface="Arial"/>
              </a:rPr>
              <a:t>Розширюємось із Рукавичкою → щільніша мережа кур'єрів і більше попиту в домашньому регіоні Близенько.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ПРОМО · ЯК РОЗГАНЯЄМО ЗАМОВЛЕННЯ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Промо-інструменти Bolt Food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03754" cy="192024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2395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07791"/>
            <a:ext cx="220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13F"/>
                </a:solidFill>
                <a:latin typeface="Arial"/>
              </a:rPr>
              <a:t>Знижка на доставку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37560"/>
            <a:ext cx="220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080"/>
                </a:solidFill>
                <a:latin typeface="Arial"/>
              </a:rPr>
              <a:t>Частково або 0 ₴. №1 інструмент для залучення нових клієнтів.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8426" y="2194560"/>
            <a:ext cx="2603754" cy="192024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9594" y="2395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9594" y="23957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9594" y="2907791"/>
            <a:ext cx="220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13F"/>
                </a:solidFill>
                <a:latin typeface="Arial"/>
              </a:rPr>
              <a:t>Знижки на каталог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594" y="3337560"/>
            <a:ext cx="220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080"/>
                </a:solidFill>
                <a:latin typeface="Arial"/>
              </a:rPr>
              <a:t>Окремі позиції або весь асортимент — через API або від Bolt.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772" y="2194560"/>
            <a:ext cx="2603754" cy="192024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7940" y="2395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7940" y="23957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7940" y="2907791"/>
            <a:ext cx="220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13F"/>
                </a:solidFill>
                <a:latin typeface="Arial"/>
              </a:rPr>
              <a:t>Когорти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7940" y="3337560"/>
            <a:ext cx="220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080"/>
                </a:solidFill>
                <a:latin typeface="Arial"/>
              </a:rPr>
              <a:t>Таргет на Нових / Втрачених / Активних — різний розмір знижки.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5118" y="2194560"/>
            <a:ext cx="2603754" cy="192024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6286" y="2395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6286" y="23957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6286" y="2907791"/>
            <a:ext cx="220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13F"/>
                </a:solidFill>
                <a:latin typeface="Arial"/>
              </a:rPr>
              <a:t>Банерна підтримка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6286" y="3337560"/>
            <a:ext cx="220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080"/>
                </a:solidFill>
                <a:latin typeface="Arial"/>
              </a:rPr>
              <a:t>Банер у вкладці «Магазини» в періоди активних акцій.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89120"/>
            <a:ext cx="5317236" cy="109728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25696"/>
            <a:ext cx="64008" cy="1024128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572000"/>
            <a:ext cx="48600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13F"/>
                </a:solidFill>
                <a:latin typeface="Arial"/>
              </a:rPr>
              <a:t>Рекомендований старт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956048"/>
            <a:ext cx="48600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Безкоштовна доставка для нових клієнтів + MOV трохи вищий за середній чек.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389120"/>
            <a:ext cx="5317236" cy="109728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425696"/>
            <a:ext cx="64008" cy="1024128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572000"/>
            <a:ext cx="48600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13F"/>
                </a:solidFill>
                <a:latin typeface="Arial"/>
              </a:rPr>
              <a:t>Знижки через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4956048"/>
            <a:ext cx="48600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Передаєте фінальні ціни — без +20% ПДВ на знижку.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ПІДТРИМКА ЗАПУСКУ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Запуск підтримаємо широкою кампанією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080"/>
                </a:solidFill>
                <a:latin typeface="Arial"/>
              </a:rPr>
              <a:t>Преміальні розміщення всередині застосунку — там, де клієнт ухвалює рішення про замовлення.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13F"/>
                </a:solidFill>
                <a:latin typeface="Arial"/>
              </a:rPr>
              <a:t>In-app модалки, банери та соцмережі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49057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In-app modal — повноекранне промо при вході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38728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538728"/>
            <a:ext cx="49057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In-app банер у стрічці магазинів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05656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105656"/>
            <a:ext cx="49057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Social media — пости та сторіз Bolt Food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356" y="2468880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13F"/>
                </a:solidFill>
                <a:latin typeface="Arial"/>
              </a:rPr>
              <a:t>Промо-банери та категорії на головній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2971800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971800"/>
            <a:ext cx="49057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Банер «Безкоштовна доставка» на головному екрані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7356" y="3538728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0236" y="3538728"/>
            <a:ext cx="49057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Спец-категорія / окрема полиця Близенько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7356" y="4105656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4105656"/>
            <a:ext cx="49057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Видимість у періоди акцій і сезонів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Arial"/>
              </a:rPr>
              <a:t>Комбінація каналів Bolt Food + Bolt Rides дає охоплення, недоступне поодинці — до 10× на старті.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IN-STORE BRANDING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Підтримка офлайн-брендингу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908792" cy="566928"/>
          </a:xfrm>
          <a:prstGeom prst="roundRect">
            <a:avLst>
              <a:gd name="adj" fmla="val 1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10543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2F313F"/>
                </a:solidFill>
                <a:latin typeface="Arial"/>
              </a:rPr>
              <a:t>Брендинг у точках — </a:t>
            </a:r>
            <a:r>
              <a:rPr sz="1100" b="0">
                <a:solidFill>
                  <a:srgbClr val="6B7080"/>
                </a:solidFill>
                <a:latin typeface="Arial"/>
              </a:rPr>
              <a:t>Bolt підтримує оформлення та видимість бренду на місцях продажу.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0672"/>
            <a:ext cx="10908792" cy="566928"/>
          </a:xfrm>
          <a:prstGeom prst="roundRect">
            <a:avLst>
              <a:gd name="adj" fmla="val 1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90672"/>
            <a:ext cx="10543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2F313F"/>
                </a:solidFill>
                <a:latin typeface="Arial"/>
              </a:rPr>
              <a:t>Звʼязок онлайн ↔ офлайн — </a:t>
            </a:r>
            <a:r>
              <a:rPr sz="1100" b="0">
                <a:solidFill>
                  <a:srgbClr val="6B7080"/>
                </a:solidFill>
                <a:latin typeface="Arial"/>
              </a:rPr>
              <a:t>офлайн-аудиторія Близенько дізнається про вашу присутність на Bolt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03904"/>
            <a:ext cx="10908792" cy="566928"/>
          </a:xfrm>
          <a:prstGeom prst="roundRect">
            <a:avLst>
              <a:gd name="adj" fmla="val 1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803904"/>
            <a:ext cx="105430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2F313F"/>
                </a:solidFill>
                <a:latin typeface="Arial"/>
              </a:rPr>
              <a:t>Спільні матеріали — </a:t>
            </a:r>
            <a:r>
              <a:rPr sz="1100" b="0">
                <a:solidFill>
                  <a:srgbClr val="6B7080"/>
                </a:solidFill>
                <a:latin typeface="Arial"/>
              </a:rPr>
              <a:t>банери, наліпки, POS-матеріали для промо-періодів.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Arial"/>
              </a:rPr>
              <a:t>Онлайн і офлайн працюють разом: магазини Близенько стають точками входу нових клієнтів у застосунок.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НАША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Комісія та безкоштовна доставка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7080"/>
                </a:solidFill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080"/>
                </a:solidFill>
                <a:latin typeface="Arial"/>
              </a:rPr>
              <a:t>комісія — стартовий рік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21031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22128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7080"/>
                </a:solidFill>
                <a:latin typeface="Arial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48716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34D186"/>
                </a:solidFill>
                <a:latin typeface="Arial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31272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B7080"/>
                </a:solidFill>
                <a:latin typeface="Arial"/>
              </a:rPr>
              <a:t>комісія — другий рік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13F"/>
                </a:solidFill>
                <a:latin typeface="Arial"/>
              </a:rPr>
              <a:t>Безкоштовна доставка — спільне фінансування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2399934" cy="45720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21256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Період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0014" y="4069080"/>
            <a:ext cx="3272637" cy="45720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7174" y="4069080"/>
            <a:ext cx="299831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Хто покриває доставку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2651" y="4069080"/>
            <a:ext cx="5236220" cy="457200"/>
          </a:xfrm>
          <a:prstGeom prst="rect">
            <a:avLst/>
          </a:prstGeom>
          <a:solidFill>
            <a:srgbClr val="2F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9811" y="4069080"/>
            <a:ext cx="4961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Логіка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239993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21256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2F313F"/>
                </a:solidFill>
                <a:latin typeface="Arial"/>
              </a:rPr>
              <a:t>Перші 6 міс (старт)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0014" y="4526280"/>
            <a:ext cx="3272637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7174" y="4526280"/>
            <a:ext cx="299831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4D186"/>
                </a:solidFill>
                <a:latin typeface="Arial"/>
              </a:rPr>
              <a:t>Bolt 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2651" y="4526280"/>
            <a:ext cx="52362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9811" y="4526280"/>
            <a:ext cx="4961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якірний рітейл регіону — заводимо клієнтів за наш кошт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83480"/>
            <a:ext cx="2399934" cy="45720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21256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2F313F"/>
                </a:solidFill>
                <a:latin typeface="Arial"/>
              </a:rPr>
              <a:t>Рік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0014" y="4983480"/>
            <a:ext cx="3272637" cy="45720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7174" y="4983480"/>
            <a:ext cx="299831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4D186"/>
                </a:solidFill>
                <a:latin typeface="Arial"/>
              </a:rPr>
              <a:t>50% Bolt / 50% Близенько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12651" y="4983480"/>
            <a:ext cx="5236220" cy="45720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9811" y="4983480"/>
            <a:ext cx="4961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спільна інвестиція в утриманий попит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80"/>
            <a:ext cx="239993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21256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2F313F"/>
                </a:solidFill>
                <a:latin typeface="Arial"/>
              </a:rPr>
              <a:t>Рік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0014" y="5440680"/>
            <a:ext cx="3272637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7174" y="5440680"/>
            <a:ext cx="299831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4D186"/>
                </a:solidFill>
                <a:latin typeface="Arial"/>
              </a:rPr>
              <a:t>75% Близенько / 25% Bolt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12651" y="5440680"/>
            <a:ext cx="52362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9811" y="5440680"/>
            <a:ext cx="4961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канал уже зрілий, Bolt лишається в долі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97880"/>
            <a:ext cx="2399934" cy="45720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897880"/>
            <a:ext cx="21256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2F313F"/>
                </a:solidFill>
                <a:latin typeface="Arial"/>
              </a:rPr>
              <a:t>Додатково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0014" y="5897880"/>
            <a:ext cx="3272637" cy="45720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7174" y="5897880"/>
            <a:ext cx="299831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4D186"/>
                </a:solidFill>
                <a:latin typeface="Arial"/>
              </a:rPr>
              <a:t>OOH-підтримка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12651" y="5897880"/>
            <a:ext cx="5236220" cy="457200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9811" y="5897880"/>
            <a:ext cx="4961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080"/>
                </a:solidFill>
                <a:latin typeface="Arial"/>
              </a:rPr>
              <a:t>зовнішня реклама на старті понад digital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465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080"/>
                </a:solidFill>
                <a:latin typeface="Arial"/>
              </a:rPr>
              <a:t>Безкоштовна доставка 3–6 міс — обовʼязковий елемент старту для якірного рітейлу в регіоні.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BOLT+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Преміум-аудиторія, що замовляє частіше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6536" cy="155448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359152"/>
            <a:ext cx="3343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2.1–2.2×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88920"/>
            <a:ext cx="3307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частіше замовляють підписники Bolt+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1208" y="2103120"/>
            <a:ext cx="3526536" cy="155448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2648" y="2359152"/>
            <a:ext cx="3343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34D186"/>
                </a:solidFill>
                <a:latin typeface="Arial"/>
              </a:rPr>
              <a:t>+12–17%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0936" y="2788920"/>
            <a:ext cx="3307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замовлень/міс після оформлення підписки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2336" y="2103120"/>
            <a:ext cx="3526536" cy="155448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3776" y="2359152"/>
            <a:ext cx="3343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2F313F"/>
                </a:solidFill>
                <a:latin typeface="Arial"/>
              </a:rPr>
              <a:t>3 сервіси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2063" y="2788920"/>
            <a:ext cx="3307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B7080"/>
                </a:solidFill>
                <a:latin typeface="Arial"/>
              </a:rPr>
              <a:t>таксі · Bolt Food · самокати в одній підписці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908792" cy="493776"/>
          </a:xfrm>
          <a:prstGeom prst="roundRect">
            <a:avLst>
              <a:gd name="adj" fmla="val 1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886200"/>
            <a:ext cx="1054303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2F313F"/>
                </a:solidFill>
                <a:latin typeface="Arial"/>
              </a:rPr>
              <a:t>Рік 1 — безкоштовно: </a:t>
            </a:r>
            <a:r>
              <a:rPr sz="1100" b="0">
                <a:solidFill>
                  <a:srgbClr val="6B7080"/>
                </a:solidFill>
                <a:latin typeface="Arial"/>
              </a:rPr>
              <a:t>Bolt+ підключено без жодної надбавки до комісії.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53128"/>
            <a:ext cx="10908792" cy="493776"/>
          </a:xfrm>
          <a:prstGeom prst="roundRect">
            <a:avLst>
              <a:gd name="adj" fmla="val 1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453128"/>
            <a:ext cx="1054303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2F313F"/>
                </a:solidFill>
                <a:latin typeface="Arial"/>
              </a:rPr>
              <a:t>Рік 2 — опційно: </a:t>
            </a:r>
            <a:r>
              <a:rPr sz="1100" b="0">
                <a:solidFill>
                  <a:srgbClr val="6B7080"/>
                </a:solidFill>
                <a:latin typeface="Arial"/>
              </a:rPr>
              <a:t>за бажанням +1–2% лише на замовлення підписників; решта — за базовою ставкою.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0056"/>
            <a:ext cx="10908792" cy="493776"/>
          </a:xfrm>
          <a:prstGeom prst="roundRect">
            <a:avLst>
              <a:gd name="adj" fmla="val 16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020056"/>
            <a:ext cx="1054303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2F313F"/>
                </a:solidFill>
                <a:latin typeface="Arial"/>
              </a:rPr>
              <a:t>Повна свобода: </a:t>
            </a:r>
            <a:r>
              <a:rPr sz="1100" b="0">
                <a:solidFill>
                  <a:srgbClr val="6B7080"/>
                </a:solidFill>
                <a:latin typeface="Arial"/>
              </a:rPr>
              <a:t>ви вільні відмовитись і не використовувати Bolt+ — це опція, а не зобовʼязання.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15000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451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Принцип: кожна 1 ₴ додаткової комісії за Bolt+ → ~7–8 ₴ додаткового обороту.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ТОВАРООБІГ · ПОТЕНЦІАЛ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GMV-потенціал Близенько на Bolt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692347" cy="457200"/>
          </a:xfrm>
          <a:prstGeom prst="roundRect">
            <a:avLst>
              <a:gd name="adj" fmla="val 2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11680"/>
            <a:ext cx="33631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F313F"/>
                </a:solidFill>
                <a:latin typeface="Arial"/>
              </a:rPr>
              <a:t>Старт: 60% покриття мережі → зростання до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5307" y="2011680"/>
            <a:ext cx="1695297" cy="457200"/>
          </a:xfrm>
          <a:prstGeom prst="roundRect">
            <a:avLst>
              <a:gd name="adj" fmla="val 2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9899" y="2011680"/>
            <a:ext cx="136611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F313F"/>
                </a:solidFill>
                <a:latin typeface="Arial"/>
              </a:rPr>
              <a:t>середній чек 650 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3484" y="2011680"/>
            <a:ext cx="3193084" cy="457200"/>
          </a:xfrm>
          <a:prstGeom prst="roundRect">
            <a:avLst>
              <a:gd name="adj" fmla="val 25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8076" y="2011680"/>
            <a:ext cx="28639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F313F"/>
                </a:solidFill>
                <a:latin typeface="Arial"/>
              </a:rPr>
              <a:t>орієнтир 2–3 замовлення/день на магазин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5317236" cy="2286000"/>
          </a:xfrm>
          <a:prstGeom prst="roundRect">
            <a:avLst>
              <a:gd name="adj" fmla="val 1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3172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F313F"/>
                </a:solidFill>
                <a:latin typeface="Arial"/>
              </a:rPr>
              <a:t>Базовий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53172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Arial"/>
              </a:rPr>
              <a:t>2 зам/день на магазин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53172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34D186"/>
                </a:solidFill>
                <a:latin typeface="Arial"/>
              </a:rPr>
              <a:t>5,77 млн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53172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080"/>
                </a:solidFill>
                <a:latin typeface="Arial"/>
              </a:rPr>
              <a:t>GMV / місяць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3172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313F"/>
                </a:solidFill>
                <a:latin typeface="Arial"/>
              </a:rPr>
              <a:t>≈ 69 млн ₴ / рік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2743200"/>
            <a:ext cx="5317236" cy="2286000"/>
          </a:xfrm>
          <a:prstGeom prst="roundRect">
            <a:avLst>
              <a:gd name="adj" fmla="val 10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1636" y="3017520"/>
            <a:ext cx="53172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Оптимальний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1636" y="3429000"/>
            <a:ext cx="53172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AFFF4"/>
                </a:solidFill>
                <a:latin typeface="Arial"/>
              </a:rPr>
              <a:t>3 зам/день на магазин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1636" y="3794760"/>
            <a:ext cx="53172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8,66 млн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1636" y="4343400"/>
            <a:ext cx="53172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AFFF4"/>
                </a:solidFill>
                <a:latin typeface="Arial"/>
              </a:rPr>
              <a:t>GMV / місяць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6" y="4617720"/>
            <a:ext cx="53172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≈ 104 млн ₴ / рік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080"/>
                </a:solidFill>
                <a:latin typeface="Arial"/>
              </a:rPr>
              <a:t>Прогноз — на старті при 60% покриття мережі; з розширенням до 100% потенціал зростає пропорційно. Повністю інкрементальний обсяг — новий канал поза наявним попитом.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080"/>
                </a:solidFill>
                <a:latin typeface="Arial"/>
              </a:rPr>
              <a:t>Припущення: середній чек 650 ₴, 30 днів/міс. Параметри перераховуються під фактичні дані Близенько.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02920" cy="91440"/>
          </a:xfrm>
          <a:prstGeom prst="rect">
            <a:avLst/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186"/>
                </a:solidFill>
                <a:latin typeface="Arial"/>
              </a:rPr>
              <a:t>НАСТУПНІ КРОКИ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F313F"/>
                </a:solidFill>
                <a:latin typeface="Arial"/>
              </a:rPr>
              <a:t>Як швидко стартуємо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13F"/>
                </a:solidFill>
                <a:latin typeface="Arial"/>
              </a:rPr>
              <a:t>Що пропонуємо коротко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32683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Комісія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5837" y="2606040"/>
            <a:ext cx="237218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>
                <a:solidFill>
                  <a:srgbClr val="34D186"/>
                </a:solidFill>
                <a:latin typeface="Arial"/>
              </a:rPr>
              <a:t>6% (2026) → 8% (2027)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72968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172968"/>
            <a:ext cx="32683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Доставка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5837" y="3172968"/>
            <a:ext cx="237218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>
                <a:solidFill>
                  <a:srgbClr val="34D186"/>
                </a:solidFill>
                <a:latin typeface="Arial"/>
              </a:rPr>
              <a:t>Bolt 100% перші 6 міс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39896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39896"/>
            <a:ext cx="32683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Далі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837" y="3739896"/>
            <a:ext cx="237218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>
                <a:solidFill>
                  <a:srgbClr val="34D186"/>
                </a:solidFill>
                <a:latin typeface="Arial"/>
              </a:rPr>
              <a:t>50/50 рік 2 · 75/25 рік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06824"/>
            <a:ext cx="5271516" cy="475488"/>
          </a:xfrm>
          <a:prstGeom prst="roundRect">
            <a:avLst>
              <a:gd name="adj" fmla="val 2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06824"/>
            <a:ext cx="32683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Bolt+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5837" y="4306824"/>
            <a:ext cx="237218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>
                <a:solidFill>
                  <a:srgbClr val="34D186"/>
                </a:solidFill>
                <a:latin typeface="Arial"/>
              </a:rPr>
              <a:t>рік 1 безкоштовно, далі опційно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2103120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13F"/>
                </a:solidFill>
                <a:latin typeface="Arial"/>
              </a:rPr>
              <a:t>Кроки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7356" y="262432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7356" y="26243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556" y="2606040"/>
            <a:ext cx="481431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Підтвердити інтерес і scope пілоту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7356" y="317296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7356" y="31729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6" y="3154680"/>
            <a:ext cx="481431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Узгодити умови комісії та доставки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7356" y="3721607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7356" y="37216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4556" y="3703320"/>
            <a:ext cx="481431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Дірект-інтеграція каталогу та цін (capex Bolt)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7356" y="427024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7356" y="4270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4556" y="4251960"/>
            <a:ext cx="481431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Запуск у регіоні + спільний маркетинг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7356" y="481888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7356" y="4818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4556" y="4800600"/>
            <a:ext cx="481431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F313F"/>
                </a:solidFill>
                <a:latin typeface="Arial"/>
              </a:rPr>
              <a:t>Огляд результатів через 4 тижні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669280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34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69280"/>
            <a:ext cx="10451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Готові запустити Близенько на Bolt Food — інкрементальний оборот, безкоштовна доставка на старті та Bolt+ безкоштовно в перший рік.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