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F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2011680" cy="7995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874519"/>
            <a:ext cx="8046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34D186"/>
                </a:solidFill>
                <a:latin typeface="Arial"/>
              </a:rPr>
              <a:t>Partnership proposal</a:t>
            </a:r>
          </a:p>
          <a:p>
            <a:r>
              <a:rPr sz="4000" b="1">
                <a:solidFill>
                  <a:srgbClr val="FFFFFF"/>
                </a:solidFill>
                <a:latin typeface="Arial"/>
              </a:rPr>
              <a:t>Master Zoo × Bolt Food</a:t>
            </a:r>
          </a:p>
          <a:p>
            <a:r>
              <a:rPr sz="1800" b="0">
                <a:solidFill>
                  <a:srgbClr val="C9CED6"/>
                </a:solidFill>
                <a:latin typeface="Arial"/>
              </a:rPr>
              <a:t>Де ми зараз і куди ростемо разом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3434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AA0AC"/>
                </a:solidFill>
                <a:latin typeface="Arial"/>
              </a:rPr>
              <a:t>Перша зустріч · Україна · Червень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92608"/>
            <a:ext cx="1280160" cy="5088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57200" cy="64008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12648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4D186"/>
                </a:solidFill>
                <a:latin typeface="Arial"/>
              </a:rPr>
              <a:t>AGENDA</a:t>
            </a:r>
          </a:p>
          <a:p>
            <a:r>
              <a:rPr sz="2700" b="1">
                <a:solidFill>
                  <a:srgbClr val="2F313F"/>
                </a:solidFill>
                <a:latin typeface="Arial"/>
              </a:rPr>
              <a:t>Про що говоримо сьогодні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502920" cy="50292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37943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34D186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74650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F313F"/>
                </a:solidFill>
                <a:latin typeface="Arial"/>
              </a:rPr>
              <a:t>Bolt Food та екосистема</a:t>
            </a:r>
          </a:p>
          <a:p>
            <a:r>
              <a:rPr sz="1200" b="0">
                <a:solidFill>
                  <a:srgbClr val="6B7080"/>
                </a:solidFill>
                <a:latin typeface="Arial"/>
              </a:rPr>
              <a:t>масштаб і динаміка росту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404872"/>
            <a:ext cx="502920" cy="50292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459736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34D186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368296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F313F"/>
                </a:solidFill>
                <a:latin typeface="Arial"/>
              </a:rPr>
              <a:t>Де Master Zoo зараз</a:t>
            </a:r>
          </a:p>
          <a:p>
            <a:r>
              <a:rPr sz="1200" b="0">
                <a:solidFill>
                  <a:srgbClr val="6B7080"/>
                </a:solidFill>
                <a:latin typeface="Arial"/>
              </a:rPr>
              <a:t>ваша позиція на ринку доставки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026664"/>
            <a:ext cx="502920" cy="50292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081528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34D186"/>
                </a:solidFill>
                <a:latin typeface="Arial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90088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F313F"/>
                </a:solidFill>
                <a:latin typeface="Arial"/>
              </a:rPr>
              <a:t>Чому Bolt</a:t>
            </a:r>
          </a:p>
          <a:p>
            <a:r>
              <a:rPr sz="1200" b="0">
                <a:solidFill>
                  <a:srgbClr val="6B7080"/>
                </a:solidFill>
                <a:latin typeface="Arial"/>
              </a:rPr>
              <a:t>інкрементальний попит, Bolt Plus, маркетинг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648456"/>
            <a:ext cx="502920" cy="50292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0332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34D186"/>
                </a:solidFill>
                <a:latin typeface="Arial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611880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F313F"/>
                </a:solidFill>
                <a:latin typeface="Arial"/>
              </a:rPr>
              <a:t>Амбіція: замовлення та GMV</a:t>
            </a:r>
          </a:p>
          <a:p>
            <a:r>
              <a:rPr sz="1200" b="0">
                <a:solidFill>
                  <a:srgbClr val="6B7080"/>
                </a:solidFill>
                <a:latin typeface="Arial"/>
              </a:rPr>
              <a:t>помісячний план на 12 міс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270248"/>
            <a:ext cx="502920" cy="50292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325112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34D186"/>
                </a:solidFill>
                <a:latin typeface="Arial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33672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F313F"/>
                </a:solidFill>
                <a:latin typeface="Arial"/>
              </a:rPr>
              <a:t>Наступні кроки</a:t>
            </a:r>
          </a:p>
          <a:p>
            <a:r>
              <a:rPr sz="1200" b="0">
                <a:solidFill>
                  <a:srgbClr val="6B7080"/>
                </a:solidFill>
                <a:latin typeface="Arial"/>
              </a:rPr>
              <a:t>як швидко стартуємо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92608"/>
            <a:ext cx="1280160" cy="5088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57200" cy="64008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12648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4D186"/>
                </a:solidFill>
                <a:latin typeface="Arial"/>
              </a:rPr>
              <a:t>BOLT TODAY</a:t>
            </a:r>
          </a:p>
          <a:p>
            <a:r>
              <a:rPr sz="2700" b="1">
                <a:solidFill>
                  <a:srgbClr val="2F313F"/>
                </a:solidFill>
                <a:latin typeface="Arial"/>
              </a:rPr>
              <a:t>Bolt — у цифрах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1554480" cy="128016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139696"/>
            <a:ext cx="1335024" cy="1024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34D186"/>
                </a:solidFill>
                <a:latin typeface="Arial"/>
              </a:rPr>
              <a:t>50+</a:t>
            </a:r>
          </a:p>
          <a:p>
            <a:pPr algn="ctr"/>
            <a:r>
              <a:rPr sz="1150" b="0">
                <a:solidFill>
                  <a:srgbClr val="6B7080"/>
                </a:solidFill>
                <a:latin typeface="Arial"/>
              </a:rPr>
              <a:t>країн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67712" y="2011680"/>
            <a:ext cx="1554480" cy="128016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77440" y="2139696"/>
            <a:ext cx="1335024" cy="1024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34D186"/>
                </a:solidFill>
                <a:latin typeface="Arial"/>
              </a:rPr>
              <a:t>850+</a:t>
            </a:r>
          </a:p>
          <a:p>
            <a:pPr algn="ctr"/>
            <a:r>
              <a:rPr sz="1150" b="0">
                <a:solidFill>
                  <a:srgbClr val="6B7080"/>
                </a:solidFill>
                <a:latin typeface="Arial"/>
              </a:rPr>
              <a:t>міст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86783" y="2011680"/>
            <a:ext cx="1554480" cy="128016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96511" y="2139696"/>
            <a:ext cx="1335024" cy="1024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34D186"/>
                </a:solidFill>
                <a:latin typeface="Arial"/>
              </a:rPr>
              <a:t>4 млн+</a:t>
            </a:r>
          </a:p>
          <a:p>
            <a:pPr algn="ctr"/>
            <a:r>
              <a:rPr sz="1150" b="0">
                <a:solidFill>
                  <a:srgbClr val="6B7080"/>
                </a:solidFill>
                <a:latin typeface="Arial"/>
              </a:rPr>
              <a:t>замовлень/день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05855" y="2011680"/>
            <a:ext cx="1554480" cy="128016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15583" y="2139696"/>
            <a:ext cx="1335024" cy="1024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34D186"/>
                </a:solidFill>
                <a:latin typeface="Arial"/>
              </a:rPr>
              <a:t>€12 млрд+</a:t>
            </a:r>
          </a:p>
          <a:p>
            <a:pPr algn="ctr"/>
            <a:r>
              <a:rPr sz="1150" b="0">
                <a:solidFill>
                  <a:srgbClr val="6B7080"/>
                </a:solidFill>
                <a:latin typeface="Arial"/>
              </a:rPr>
              <a:t>GMV run-rate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24927" y="2011680"/>
            <a:ext cx="1554480" cy="128016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34655" y="2139696"/>
            <a:ext cx="1335024" cy="1024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34D186"/>
                </a:solidFill>
                <a:latin typeface="Arial"/>
              </a:rPr>
              <a:t>30%+</a:t>
            </a:r>
          </a:p>
          <a:p>
            <a:pPr algn="ctr"/>
            <a:r>
              <a:rPr sz="1150" b="0">
                <a:solidFill>
                  <a:srgbClr val="6B7080"/>
                </a:solidFill>
                <a:latin typeface="Arial"/>
              </a:rPr>
              <a:t>GMV CAGR 2021–25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61188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080"/>
                </a:solidFill>
                <a:latin typeface="Arial"/>
              </a:rPr>
              <a:t>Один застосунок: доставка їжі та товарів, таксі, оренда — мільйони активних клієнтів в Україні.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92608"/>
            <a:ext cx="1280160" cy="5088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57200" cy="64008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12648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4D186"/>
                </a:solidFill>
                <a:latin typeface="Arial"/>
              </a:rPr>
              <a:t>MEET BOLT</a:t>
            </a:r>
          </a:p>
          <a:p>
            <a:r>
              <a:rPr sz="2700" b="1">
                <a:solidFill>
                  <a:srgbClr val="2F313F"/>
                </a:solidFill>
                <a:latin typeface="Arial"/>
              </a:rPr>
              <a:t>Вся on-demand екосистема в одному застосунку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74519"/>
            <a:ext cx="2606040" cy="16916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874519"/>
            <a:ext cx="2606040" cy="457200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8527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Таксі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2423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F313F"/>
                </a:solidFill>
                <a:latin typeface="Arial"/>
              </a:rPr>
              <a:t>40+ країн</a:t>
            </a:r>
          </a:p>
          <a:p>
            <a:pPr algn="ctr"/>
            <a:r>
              <a:rPr sz="1800" b="1">
                <a:solidFill>
                  <a:srgbClr val="2F313F"/>
                </a:solidFill>
                <a:latin typeface="Arial"/>
              </a:rPr>
              <a:t>500+ міст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1874519"/>
            <a:ext cx="2606040" cy="16916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383280" y="1874519"/>
            <a:ext cx="2606040" cy="457200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1938527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Доставка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514600"/>
            <a:ext cx="2423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F313F"/>
                </a:solidFill>
                <a:latin typeface="Arial"/>
              </a:rPr>
              <a:t>15+ країн</a:t>
            </a:r>
          </a:p>
          <a:p>
            <a:pPr algn="ctr"/>
            <a:r>
              <a:rPr sz="1800" b="1">
                <a:solidFill>
                  <a:srgbClr val="2F313F"/>
                </a:solidFill>
                <a:latin typeface="Arial"/>
              </a:rPr>
              <a:t>200+ міст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874519"/>
            <a:ext cx="2606040" cy="16916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17920" y="1874519"/>
            <a:ext cx="2606040" cy="457200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938527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Оренда / самокати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514600"/>
            <a:ext cx="2423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F313F"/>
                </a:solidFill>
                <a:latin typeface="Arial"/>
              </a:rPr>
              <a:t>20+ країн</a:t>
            </a:r>
          </a:p>
          <a:p>
            <a:pPr algn="ctr"/>
            <a:r>
              <a:rPr sz="1800" b="1">
                <a:solidFill>
                  <a:srgbClr val="2F313F"/>
                </a:solidFill>
                <a:latin typeface="Arial"/>
              </a:rPr>
              <a:t>200+ міст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79476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080"/>
                </a:solidFill>
                <a:latin typeface="Arial"/>
              </a:rPr>
              <a:t>Крос-вертикальний ефект: користувачів таксі та Food ми конвертуємо у покупців ваших товарів.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92608"/>
            <a:ext cx="1280160" cy="5088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57200" cy="64008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12648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4D186"/>
                </a:solidFill>
                <a:latin typeface="Arial"/>
              </a:rPr>
              <a:t>ДЕ ВИ ЗАРАЗ</a:t>
            </a:r>
          </a:p>
          <a:p>
            <a:r>
              <a:rPr sz="2700" b="1">
                <a:solidFill>
                  <a:srgbClr val="2F313F"/>
                </a:solidFill>
                <a:latin typeface="Arial"/>
              </a:rPr>
              <a:t>Master Zoo на ринку доставки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74519"/>
            <a:ext cx="1874519" cy="137160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002536"/>
            <a:ext cx="1655063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2F313F"/>
                </a:solidFill>
                <a:latin typeface="Arial"/>
              </a:rPr>
              <a:t>5 513</a:t>
            </a:r>
          </a:p>
          <a:p>
            <a:pPr algn="ctr"/>
            <a:r>
              <a:rPr sz="1150" b="0">
                <a:solidFill>
                  <a:srgbClr val="6B7080"/>
                </a:solidFill>
                <a:latin typeface="Arial"/>
              </a:rPr>
              <a:t>замовлень/міс на Glovo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06040" y="1874519"/>
            <a:ext cx="1874519" cy="137160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15768" y="2002536"/>
            <a:ext cx="1655063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2F313F"/>
                </a:solidFill>
                <a:latin typeface="Arial"/>
              </a:rPr>
              <a:t>29</a:t>
            </a:r>
          </a:p>
          <a:p>
            <a:pPr algn="ctr"/>
            <a:r>
              <a:rPr sz="1150" b="0">
                <a:solidFill>
                  <a:srgbClr val="6B7080"/>
                </a:solidFill>
                <a:latin typeface="Arial"/>
              </a:rPr>
              <a:t>міст присутності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1874519"/>
            <a:ext cx="1874519" cy="137160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3168" y="2002536"/>
            <a:ext cx="1655063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2F313F"/>
                </a:solidFill>
                <a:latin typeface="Arial"/>
              </a:rPr>
              <a:t>#16</a:t>
            </a:r>
          </a:p>
          <a:p>
            <a:pPr algn="ctr"/>
            <a:r>
              <a:rPr sz="1150" b="0">
                <a:solidFill>
                  <a:srgbClr val="6B7080"/>
                </a:solidFill>
                <a:latin typeface="Arial"/>
              </a:rPr>
              <a:t>ритейл-бренд на Glovo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1874519"/>
            <a:ext cx="1874519" cy="137160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30568" y="2002536"/>
            <a:ext cx="1655063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34D186"/>
                </a:solidFill>
                <a:latin typeface="Arial"/>
              </a:rPr>
              <a:t>0</a:t>
            </a:r>
          </a:p>
          <a:p>
            <a:pPr algn="ctr"/>
            <a:r>
              <a:rPr sz="1150" b="0">
                <a:solidFill>
                  <a:srgbClr val="6B7080"/>
                </a:solidFill>
                <a:latin typeface="Arial"/>
              </a:rPr>
              <a:t>замовлень на Bolt Food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474720"/>
            <a:ext cx="8046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313F"/>
                </a:solidFill>
                <a:latin typeface="Arial"/>
              </a:rPr>
              <a:t>Висновок: </a:t>
            </a:r>
            <a:r>
              <a:rPr sz="1300" b="0">
                <a:solidFill>
                  <a:srgbClr val="6B7080"/>
                </a:solidFill>
                <a:latin typeface="Arial"/>
              </a:rPr>
              <a:t>сильний, стабільний попит на доставку зоотоварів — але </a:t>
            </a:r>
            <a:r>
              <a:rPr sz="1300" b="1">
                <a:solidFill>
                  <a:srgbClr val="34D186"/>
                </a:solidFill>
                <a:latin typeface="Arial"/>
              </a:rPr>
              <a:t>повністю поза Bolt Food</a:t>
            </a:r>
            <a:r>
              <a:rPr sz="1300" b="0">
                <a:solidFill>
                  <a:srgbClr val="6B7080"/>
                </a:solidFill>
                <a:latin typeface="Arial"/>
              </a:rPr>
              <a:t>. Це чистий новий канал продажів без канібалізації.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6B7080"/>
                </a:solidFill>
                <a:latin typeface="Arial"/>
              </a:rPr>
              <a:t>Джерело: Bolt internal data (Databricks) + Get Placed market scan, Jan–Apr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92608"/>
            <a:ext cx="1280160" cy="5088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57200" cy="64008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12648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4D186"/>
                </a:solidFill>
                <a:latin typeface="Arial"/>
              </a:rPr>
              <a:t>МОЖЛИВІСТЬ</a:t>
            </a:r>
          </a:p>
          <a:p>
            <a:r>
              <a:rPr sz="2700" b="1">
                <a:solidFill>
                  <a:srgbClr val="2F313F"/>
                </a:solidFill>
                <a:latin typeface="Arial"/>
              </a:rPr>
              <a:t>Чому зараз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74519"/>
            <a:ext cx="3931920" cy="12344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82296" cy="1234440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2020824"/>
            <a:ext cx="3566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2F313F"/>
                </a:solidFill>
                <a:latin typeface="Arial"/>
              </a:rPr>
              <a:t>Незайнятий канал</a:t>
            </a:r>
          </a:p>
          <a:p>
            <a:r>
              <a:rPr sz="1150" b="0">
                <a:solidFill>
                  <a:srgbClr val="6B7080"/>
                </a:solidFill>
                <a:latin typeface="Arial"/>
              </a:rPr>
              <a:t>Master Zoo = 0 на Bolt Food. Кожне замовлення — інкрементальне, поверх Glovo.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1874519"/>
            <a:ext cx="3931920" cy="12344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63440" y="1874519"/>
            <a:ext cx="82296" cy="1234440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19472" y="2020824"/>
            <a:ext cx="3566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2F313F"/>
                </a:solidFill>
                <a:latin typeface="Arial"/>
              </a:rPr>
              <a:t>Bolt Food росте</a:t>
            </a:r>
          </a:p>
          <a:p>
            <a:r>
              <a:rPr sz="1150" b="0">
                <a:solidFill>
                  <a:srgbClr val="6B7080"/>
                </a:solidFill>
                <a:latin typeface="Arial"/>
              </a:rPr>
              <a:t>Замовлення на платформі ростуть двозначними темпами кв/кв в Україні.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46120"/>
            <a:ext cx="3931920" cy="12344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246120"/>
            <a:ext cx="82296" cy="1234440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3392424"/>
            <a:ext cx="3566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2F313F"/>
                </a:solidFill>
                <a:latin typeface="Arial"/>
              </a:rPr>
              <a:t>Pets — недопредставлені</a:t>
            </a:r>
          </a:p>
          <a:p>
            <a:r>
              <a:rPr sz="1150" b="0">
                <a:solidFill>
                  <a:srgbClr val="6B7080"/>
                </a:solidFill>
                <a:latin typeface="Arial"/>
              </a:rPr>
              <a:t>Зоотовари майже відсутні в food-delivery. Низька конкуренція, висока лояльність.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3246120"/>
            <a:ext cx="3931920" cy="12344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63440" y="3246120"/>
            <a:ext cx="82296" cy="1234440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19472" y="3392424"/>
            <a:ext cx="3566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2F313F"/>
                </a:solidFill>
                <a:latin typeface="Arial"/>
              </a:rPr>
              <a:t>Швидкий старт</a:t>
            </a:r>
          </a:p>
          <a:p>
            <a:r>
              <a:rPr sz="1150" b="0">
                <a:solidFill>
                  <a:srgbClr val="6B7080"/>
                </a:solidFill>
                <a:latin typeface="Arial"/>
              </a:rPr>
              <a:t>Інтеграція меню/каталогу й запуск у топ-містах за кілька тижнів.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92608"/>
            <a:ext cx="1280160" cy="5088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57200" cy="64008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12648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4D186"/>
                </a:solidFill>
                <a:latin typeface="Arial"/>
              </a:rPr>
              <a:t>ЧОМУ ЗАРАЗ · BOLT FOOD РОСТЕ</a:t>
            </a:r>
          </a:p>
          <a:p>
            <a:r>
              <a:rPr sz="2700" b="1">
                <a:solidFill>
                  <a:srgbClr val="2F313F"/>
                </a:solidFill>
                <a:latin typeface="Arial"/>
              </a:rPr>
              <a:t>Замовлення ростуть двозначними темпами кв/кв</a:t>
            </a:r>
          </a:p>
        </p:txBody>
      </p:sp>
      <p:pic>
        <p:nvPicPr>
          <p:cNvPr id="5" name="Picture 4" descr="grow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417320"/>
            <a:ext cx="7680960" cy="30907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5720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080"/>
                </a:solidFill>
                <a:latin typeface="Arial"/>
              </a:rPr>
              <a:t>3P-магазини </a:t>
            </a:r>
            <a:r>
              <a:rPr sz="1200" b="1">
                <a:solidFill>
                  <a:srgbClr val="34D186"/>
                </a:solidFill>
                <a:latin typeface="Arial"/>
              </a:rPr>
              <a:t>2 401 → 6 429 (+168%)</a:t>
            </a:r>
            <a:r>
              <a:rPr sz="1200" b="0">
                <a:solidFill>
                  <a:srgbClr val="6B7080"/>
                </a:solidFill>
                <a:latin typeface="Arial"/>
              </a:rPr>
              <a:t>  ·  замовлення </a:t>
            </a:r>
            <a:r>
              <a:rPr sz="1200" b="1">
                <a:solidFill>
                  <a:srgbClr val="2F313F"/>
                </a:solidFill>
                <a:latin typeface="Arial"/>
              </a:rPr>
              <a:t>78k → 154k (×2)</a:t>
            </a:r>
            <a:r>
              <a:rPr sz="1200" b="0">
                <a:solidFill>
                  <a:srgbClr val="6B7080"/>
                </a:solidFill>
                <a:latin typeface="Arial"/>
              </a:rPr>
              <a:t>  за Jan→Apr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6B7080"/>
                </a:solidFill>
                <a:latin typeface="Arial"/>
              </a:rPr>
              <a:t>Базуючись на ринкових даних (Get Placed market scan), Jan–Apr 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92608"/>
            <a:ext cx="1280160" cy="5088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57200" cy="64008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12648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4D186"/>
                </a:solidFill>
                <a:latin typeface="Arial"/>
              </a:rPr>
              <a:t>ЧОМУ BOLT</a:t>
            </a:r>
          </a:p>
          <a:p>
            <a:r>
              <a:rPr sz="2700" b="1">
                <a:solidFill>
                  <a:srgbClr val="2F313F"/>
                </a:solidFill>
                <a:latin typeface="Arial"/>
              </a:rPr>
              <a:t>Новий канал росту — без ризику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74519"/>
            <a:ext cx="3931920" cy="12344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82296" cy="1234440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2002536"/>
            <a:ext cx="35661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F313F"/>
                </a:solidFill>
                <a:latin typeface="Arial"/>
              </a:rPr>
              <a:t>40% — нові клієнти</a:t>
            </a:r>
          </a:p>
          <a:p>
            <a:r>
              <a:rPr sz="1050" b="0">
                <a:solidFill>
                  <a:srgbClr val="6B7080"/>
                </a:solidFill>
                <a:latin typeface="Arial"/>
              </a:rPr>
              <a:t>У середньому 40% замовлень магазину — від клієнтів, які вперше замовляють саме у вас. Чистий інкрементальний попит.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1874519"/>
            <a:ext cx="3931920" cy="12344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63440" y="1874519"/>
            <a:ext cx="82296" cy="1234440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19472" y="2002536"/>
            <a:ext cx="35661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F313F"/>
                </a:solidFill>
                <a:latin typeface="Arial"/>
              </a:rPr>
              <a:t>Крос-вертикальний попит</a:t>
            </a:r>
          </a:p>
          <a:p>
            <a:r>
              <a:rPr sz="1050" b="0">
                <a:solidFill>
                  <a:srgbClr val="6B7080"/>
                </a:solidFill>
                <a:latin typeface="Arial"/>
              </a:rPr>
              <a:t>Аудиторію таксі та Bolt Food конвертуємо у покупців ваших товарів — нові цифрові клієнти поза вашою офлайн-базою.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46120"/>
            <a:ext cx="3931920" cy="12344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246120"/>
            <a:ext cx="82296" cy="1234440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3374136"/>
            <a:ext cx="35661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F313F"/>
                </a:solidFill>
                <a:latin typeface="Arial"/>
              </a:rPr>
              <a:t>Модель на комісії</a:t>
            </a:r>
          </a:p>
          <a:p>
            <a:r>
              <a:rPr sz="1050" b="0">
                <a:solidFill>
                  <a:srgbClr val="6B7080"/>
                </a:solidFill>
                <a:latin typeface="Arial"/>
              </a:rPr>
              <a:t>Без цінових війн, демпінгу й витрат на експансію магазинів. Маркетинг-подібна інвестиція з високим ROI.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3246120"/>
            <a:ext cx="3931920" cy="12344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63440" y="3246120"/>
            <a:ext cx="82296" cy="1234440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19472" y="3374136"/>
            <a:ext cx="35661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F313F"/>
                </a:solidFill>
                <a:latin typeface="Arial"/>
              </a:rPr>
              <a:t>Орієнтир економіки</a:t>
            </a:r>
          </a:p>
          <a:p>
            <a:r>
              <a:rPr sz="1050" b="0">
                <a:solidFill>
                  <a:srgbClr val="6B7080"/>
                </a:solidFill>
                <a:latin typeface="Arial"/>
              </a:rPr>
              <a:t>≈16 замовлень/магазин/день, частота ~2× на місяць — і зростає з підпискою та промо.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6B7080"/>
                </a:solidFill>
                <a:latin typeface="Arial"/>
              </a:rPr>
              <a:t>Джерело: Bolt market materials (MWB Sales Pitch).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92608"/>
            <a:ext cx="1280160" cy="5088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57200" cy="64008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12648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4D186"/>
                </a:solidFill>
                <a:latin typeface="Arial"/>
              </a:rPr>
              <a:t>BOLT PLUS</a:t>
            </a:r>
          </a:p>
          <a:p>
            <a:r>
              <a:rPr sz="2700" b="1">
                <a:solidFill>
                  <a:srgbClr val="2F313F"/>
                </a:solidFill>
                <a:latin typeface="Arial"/>
              </a:rPr>
              <a:t>Преміум-аудиторія, що замовляє частіше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2514600" cy="132588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911095"/>
            <a:ext cx="2295144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34D186"/>
                </a:solidFill>
                <a:latin typeface="Arial"/>
              </a:rPr>
              <a:t>2.1–2.2×</a:t>
            </a:r>
          </a:p>
          <a:p>
            <a:pPr algn="ctr"/>
            <a:r>
              <a:rPr sz="1150" b="0">
                <a:solidFill>
                  <a:srgbClr val="6B7080"/>
                </a:solidFill>
                <a:latin typeface="Arial"/>
              </a:rPr>
              <a:t>частіше замовляють підписники Bolt+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6120" y="1783080"/>
            <a:ext cx="2514600" cy="132588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55848" y="1911095"/>
            <a:ext cx="2295144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34D186"/>
                </a:solidFill>
                <a:latin typeface="Arial"/>
              </a:rPr>
              <a:t>+12–17%</a:t>
            </a:r>
          </a:p>
          <a:p>
            <a:pPr algn="ctr"/>
            <a:r>
              <a:rPr sz="1150" b="0">
                <a:solidFill>
                  <a:srgbClr val="6B7080"/>
                </a:solidFill>
                <a:latin typeface="Arial"/>
              </a:rPr>
              <a:t>замовлень/міс після оформлення підписки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1783080"/>
            <a:ext cx="2651760" cy="132588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53328" y="1911095"/>
            <a:ext cx="2432304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2F313F"/>
                </a:solidFill>
                <a:latin typeface="Arial"/>
              </a:rPr>
              <a:t>3 сервіси</a:t>
            </a:r>
          </a:p>
          <a:p>
            <a:pPr algn="ctr"/>
            <a:r>
              <a:rPr sz="1150" b="0">
                <a:solidFill>
                  <a:srgbClr val="6B7080"/>
                </a:solidFill>
                <a:latin typeface="Arial"/>
              </a:rPr>
              <a:t>таксі · Bolt Food · самокати в одній підписці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337560"/>
            <a:ext cx="78638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4"/>
              </a:spcAft>
            </a:pPr>
            <a:r>
              <a:rPr sz="1200" b="1">
                <a:solidFill>
                  <a:srgbClr val="34D186"/>
                </a:solidFill>
                <a:latin typeface="Arial"/>
              </a:rPr>
              <a:t>•  </a:t>
            </a:r>
            <a:r>
              <a:rPr sz="1200" b="1">
                <a:solidFill>
                  <a:srgbClr val="2F313F"/>
                </a:solidFill>
                <a:latin typeface="Arial"/>
              </a:rPr>
              <a:t>Доступ до преміум-клієнтів —</a:t>
            </a:r>
            <a:r>
              <a:rPr sz="1200" b="0">
                <a:solidFill>
                  <a:srgbClr val="6B7080"/>
                </a:solidFill>
                <a:latin typeface="Arial"/>
              </a:rPr>
              <a:t> найактивніші користувачі з високим середнім чеком.</a:t>
            </a:r>
          </a:p>
          <a:p>
            <a:pPr>
              <a:spcAft>
                <a:spcPts val="504"/>
              </a:spcAft>
            </a:pPr>
            <a:r>
              <a:rPr sz="1200" b="1">
                <a:solidFill>
                  <a:srgbClr val="34D186"/>
                </a:solidFill>
                <a:latin typeface="Arial"/>
              </a:rPr>
              <a:t>•  </a:t>
            </a:r>
            <a:r>
              <a:rPr sz="1200" b="1">
                <a:solidFill>
                  <a:srgbClr val="2F313F"/>
                </a:solidFill>
                <a:latin typeface="Arial"/>
              </a:rPr>
              <a:t>Більше видимості —</a:t>
            </a:r>
            <a:r>
              <a:rPr sz="1200" b="0">
                <a:solidFill>
                  <a:srgbClr val="6B7080"/>
                </a:solidFill>
                <a:latin typeface="Arial"/>
              </a:rPr>
              <a:t> окрема категорія на головному екрані, банер і бейдж Bolt Plus.</a:t>
            </a:r>
          </a:p>
          <a:p>
            <a:pPr>
              <a:spcAft>
                <a:spcPts val="504"/>
              </a:spcAft>
            </a:pPr>
            <a:r>
              <a:rPr sz="1200" b="1">
                <a:solidFill>
                  <a:srgbClr val="34D186"/>
                </a:solidFill>
                <a:latin typeface="Arial"/>
              </a:rPr>
              <a:t>•  </a:t>
            </a:r>
            <a:r>
              <a:rPr sz="1200" b="1">
                <a:solidFill>
                  <a:srgbClr val="2F313F"/>
                </a:solidFill>
                <a:latin typeface="Arial"/>
              </a:rPr>
              <a:t>Комісія Bolt Plus —</a:t>
            </a:r>
            <a:r>
              <a:rPr sz="1200" b="0">
                <a:solidFill>
                  <a:srgbClr val="6B7080"/>
                </a:solidFill>
                <a:latin typeface="Arial"/>
              </a:rPr>
              <a:t> лише на замовлення підписників; для решти — стандартна комісія.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6B7080"/>
                </a:solidFill>
                <a:latin typeface="Arial"/>
              </a:rPr>
              <a:t>Джерело: презентація «Підписка Bolt+» (UA) + внутрішнє моделювання Bolt. dbx: частка замовлень Bolt+ зростає.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92608"/>
            <a:ext cx="1280160" cy="5088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57200" cy="64008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12648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4D186"/>
                </a:solidFill>
                <a:latin typeface="Arial"/>
              </a:rPr>
              <a:t>ПОТЕНЦІАЛ СПІВПРАЦІ · BOLT+</a:t>
            </a:r>
          </a:p>
          <a:p>
            <a:r>
              <a:rPr sz="2700" b="1">
                <a:solidFill>
                  <a:srgbClr val="2F313F"/>
                </a:solidFill>
                <a:latin typeface="Arial"/>
              </a:rPr>
              <a:t>Bolt+: 0,4% комісії проти +20% GMV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3931920" cy="1874519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3931920" cy="91440"/>
          </a:xfrm>
          <a:prstGeom prst="rect">
            <a:avLst/>
          </a:prstGeom>
          <a:solidFill>
            <a:srgbClr val="6B7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93392"/>
            <a:ext cx="3520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2F313F"/>
                </a:solidFill>
                <a:latin typeface="Arial"/>
              </a:rPr>
              <a:t>Вартість Bolt+</a:t>
            </a:r>
          </a:p>
          <a:p>
            <a:r>
              <a:rPr sz="1000" b="0">
                <a:solidFill>
                  <a:srgbClr val="6B7080"/>
                </a:solidFill>
                <a:latin typeface="Arial"/>
              </a:rPr>
              <a:t>середньозважена надбавка (20% × 2%)</a:t>
            </a:r>
          </a:p>
          <a:p>
            <a:r>
              <a:rPr sz="2600" b="1">
                <a:solidFill>
                  <a:srgbClr val="2F313F"/>
                </a:solidFill>
                <a:latin typeface="Arial"/>
              </a:rPr>
              <a:t>+0,4 п.п.</a:t>
            </a:r>
          </a:p>
          <a:p>
            <a:r>
              <a:rPr sz="1150" b="0">
                <a:solidFill>
                  <a:srgbClr val="6B7080"/>
                </a:solidFill>
                <a:latin typeface="Arial"/>
              </a:rPr>
              <a:t>≈ 10 200 ₴ / міс (міс 6)</a:t>
            </a:r>
          </a:p>
          <a:p>
            <a:r>
              <a:rPr sz="1150" b="0">
                <a:solidFill>
                  <a:srgbClr val="6B7080"/>
                </a:solidFill>
                <a:latin typeface="Arial"/>
              </a:rPr>
              <a:t>≈ 46 000 ₴ за 6 міс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1828800"/>
            <a:ext cx="3931920" cy="1874519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92040" y="1993392"/>
            <a:ext cx="3520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Arial"/>
              </a:rPr>
              <a:t>Приріст GMV від Bolt+</a:t>
            </a:r>
          </a:p>
          <a:p>
            <a:r>
              <a:rPr sz="1000" b="0">
                <a:solidFill>
                  <a:srgbClr val="EAFFF4"/>
                </a:solidFill>
                <a:latin typeface="Arial"/>
              </a:rPr>
              <a:t>частіші замовлення преміум-аудиторії</a:t>
            </a:r>
          </a:p>
          <a:p>
            <a:r>
              <a:rPr sz="2600" b="1">
                <a:solidFill>
                  <a:srgbClr val="FFFFFF"/>
                </a:solidFill>
                <a:latin typeface="Arial"/>
              </a:rPr>
              <a:t>+20%</a:t>
            </a:r>
          </a:p>
          <a:p>
            <a:r>
              <a:rPr sz="1150" b="0">
                <a:solidFill>
                  <a:srgbClr val="FFFFFF"/>
                </a:solidFill>
                <a:latin typeface="Arial"/>
              </a:rPr>
              <a:t>+510 000 ₴ / міс (міс 6)</a:t>
            </a:r>
          </a:p>
          <a:p>
            <a:r>
              <a:rPr sz="1150" b="0">
                <a:solidFill>
                  <a:srgbClr val="FFFFFF"/>
                </a:solidFill>
                <a:latin typeface="Arial"/>
              </a:rPr>
              <a:t>+2,3 млн ₴ за 6 міс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886200"/>
            <a:ext cx="8046720" cy="566928"/>
          </a:xfrm>
          <a:prstGeom prst="roundRect">
            <a:avLst/>
          </a:prstGeom>
          <a:solidFill>
            <a:srgbClr val="2F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968496"/>
            <a:ext cx="76809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Кожна 1 ₴ комісії → ~40–50 ₴ GMV · 0,4% «з'їдає» лише ~2% приросту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6B7080"/>
                </a:solidFill>
                <a:latin typeface="Arial"/>
              </a:rPr>
              <a:t>Розрахунок: AOV 850 ₴, до 3 000 замовлень/міс, ~11,5 млн ₴ GMV за 6 міс. Bolt+ ≈ 20% продажів, +2% на ці замовлення.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92608"/>
            <a:ext cx="1280160" cy="5088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57200" cy="64008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12648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4D186"/>
                </a:solidFill>
                <a:latin typeface="Arial"/>
              </a:rPr>
              <a:t>ДОСВІД КОРИСТУВАЧА</a:t>
            </a:r>
          </a:p>
          <a:p>
            <a:r>
              <a:rPr sz="2700" b="1">
                <a:solidFill>
                  <a:srgbClr val="2F313F"/>
                </a:solidFill>
                <a:latin typeface="Arial"/>
              </a:rPr>
              <a:t>Bolt інвестує в Consumer Experience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74519"/>
            <a:ext cx="3931920" cy="12344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82296" cy="1234440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2020824"/>
            <a:ext cx="3566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2F313F"/>
                </a:solidFill>
                <a:latin typeface="Arial"/>
              </a:rPr>
              <a:t>Персоналізований контент</a:t>
            </a:r>
          </a:p>
          <a:p>
            <a:r>
              <a:rPr sz="1050" b="0">
                <a:solidFill>
                  <a:srgbClr val="6B7080"/>
                </a:solidFill>
                <a:latin typeface="Arial"/>
              </a:rPr>
              <a:t>Рекомендації на основі історії та вподобань користувача.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1874519"/>
            <a:ext cx="3931920" cy="12344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63440" y="1874519"/>
            <a:ext cx="82296" cy="1234440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19472" y="2020824"/>
            <a:ext cx="3566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2F313F"/>
                </a:solidFill>
                <a:latin typeface="Arial"/>
              </a:rPr>
              <a:t>Зручний пошук і фільтри</a:t>
            </a:r>
          </a:p>
          <a:p>
            <a:r>
              <a:rPr sz="1050" b="0">
                <a:solidFill>
                  <a:srgbClr val="6B7080"/>
                </a:solidFill>
                <a:latin typeface="Arial"/>
              </a:rPr>
              <a:t>Швидка навігація, що показує більше релевантних товарів.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46120"/>
            <a:ext cx="3931920" cy="12344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246120"/>
            <a:ext cx="82296" cy="1234440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3392424"/>
            <a:ext cx="3566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2F313F"/>
                </a:solidFill>
                <a:latin typeface="Arial"/>
              </a:rPr>
              <a:t>Прості точки входу в магазини</a:t>
            </a:r>
          </a:p>
          <a:p>
            <a:r>
              <a:rPr sz="1050" b="0">
                <a:solidFill>
                  <a:srgbClr val="6B7080"/>
                </a:solidFill>
                <a:latin typeface="Arial"/>
              </a:rPr>
              <a:t>High-intent вкладки внизу екрану ведуть у ваш магазин.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3246120"/>
            <a:ext cx="3931920" cy="12344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63440" y="3246120"/>
            <a:ext cx="82296" cy="1234440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19472" y="3392424"/>
            <a:ext cx="3566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2F313F"/>
                </a:solidFill>
                <a:latin typeface="Arial"/>
              </a:rPr>
              <a:t>Bolt Plus для утримання</a:t>
            </a:r>
          </a:p>
          <a:p>
            <a:r>
              <a:rPr sz="1050" b="0">
                <a:solidFill>
                  <a:srgbClr val="6B7080"/>
                </a:solidFill>
                <a:latin typeface="Arial"/>
              </a:rPr>
              <a:t>Переваги підписки підвищують частоту та повернення клієнтів.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92608"/>
            <a:ext cx="1280160" cy="5088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57200" cy="64008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12648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4D186"/>
                </a:solidFill>
                <a:latin typeface="Arial"/>
              </a:rPr>
              <a:t>МАРКЕТИНГОВА ПІДТРИМКА</a:t>
            </a:r>
          </a:p>
          <a:p>
            <a:r>
              <a:rPr sz="2700" b="1">
                <a:solidFill>
                  <a:srgbClr val="2F313F"/>
                </a:solidFill>
                <a:latin typeface="Arial"/>
              </a:rPr>
              <a:t>Маркетинг і реклама, що ростять продажі магазину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2606040" cy="7772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13232" y="2121408"/>
            <a:ext cx="365760" cy="365760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208483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313F"/>
                </a:solidFill>
                <a:latin typeface="Arial"/>
              </a:rPr>
              <a:t>Bolt Plus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920240"/>
            <a:ext cx="2606040" cy="7772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47872" y="2121408"/>
            <a:ext cx="365760" cy="365760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69080" y="208483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313F"/>
                </a:solidFill>
                <a:latin typeface="Arial"/>
              </a:rPr>
              <a:t>In-app engagement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2606040" cy="7772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82512" y="2121408"/>
            <a:ext cx="365760" cy="365760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03720" y="208483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313F"/>
                </a:solidFill>
                <a:latin typeface="Arial"/>
              </a:rPr>
              <a:t>Merchant Offers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880360"/>
            <a:ext cx="2606040" cy="7772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13232" y="3081528"/>
            <a:ext cx="365760" cy="365760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34440" y="304495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313F"/>
                </a:solidFill>
                <a:latin typeface="Arial"/>
              </a:rPr>
              <a:t>Online Ads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0" y="2880360"/>
            <a:ext cx="2606040" cy="7772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47872" y="3081528"/>
            <a:ext cx="365760" cy="365760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69080" y="304495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313F"/>
                </a:solidFill>
                <a:latin typeface="Arial"/>
              </a:rPr>
              <a:t>PR / Social Media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2880360"/>
            <a:ext cx="2606040" cy="7772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82512" y="3081528"/>
            <a:ext cx="365760" cy="365760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304495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313F"/>
                </a:solidFill>
                <a:latin typeface="Arial"/>
              </a:rPr>
              <a:t>Email + Push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93192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080"/>
                </a:solidFill>
                <a:latin typeface="Arial"/>
              </a:rPr>
              <a:t>Комбінація каналів Bolt Food + Bolt Rides дає охоплення, недоступне поодинці.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92608"/>
            <a:ext cx="1280160" cy="5088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57200" cy="64008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12648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4D186"/>
                </a:solidFill>
                <a:latin typeface="Arial"/>
              </a:rPr>
              <a:t>КАМПАНІЇ</a:t>
            </a:r>
          </a:p>
          <a:p>
            <a:r>
              <a:rPr sz="2700" b="1">
                <a:solidFill>
                  <a:srgbClr val="2F313F"/>
                </a:solidFill>
                <a:latin typeface="Arial"/>
              </a:rPr>
              <a:t>Маркетингові кампанії: до 10× охоплення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74519"/>
            <a:ext cx="2606040" cy="219456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2240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F313F"/>
                </a:solidFill>
                <a:latin typeface="Arial"/>
              </a:rPr>
              <a:t>Standard</a:t>
            </a:r>
          </a:p>
          <a:p>
            <a:pPr algn="ctr"/>
            <a:r>
              <a:rPr sz="2400" b="1">
                <a:solidFill>
                  <a:srgbClr val="34D186"/>
                </a:solidFill>
                <a:latin typeface="Arial"/>
              </a:rPr>
              <a:t>1× охоплення</a:t>
            </a:r>
          </a:p>
          <a:p>
            <a:pPr algn="ctr"/>
            <a:r>
              <a:rPr sz="1050" b="0">
                <a:solidFill>
                  <a:srgbClr val="6B7080"/>
                </a:solidFill>
                <a:latin typeface="Arial"/>
              </a:rPr>
              <a:t>Email + push Bolt Food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1874519"/>
            <a:ext cx="2606040" cy="219456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2103120"/>
            <a:ext cx="2240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F313F"/>
                </a:solidFill>
                <a:latin typeface="Arial"/>
              </a:rPr>
              <a:t>Small</a:t>
            </a:r>
          </a:p>
          <a:p>
            <a:pPr algn="ctr"/>
            <a:r>
              <a:rPr sz="2400" b="1">
                <a:solidFill>
                  <a:srgbClr val="34D186"/>
                </a:solidFill>
                <a:latin typeface="Arial"/>
              </a:rPr>
              <a:t>2× охоплення</a:t>
            </a:r>
          </a:p>
          <a:p>
            <a:pPr algn="ctr"/>
            <a:r>
              <a:rPr sz="1050" b="0">
                <a:solidFill>
                  <a:srgbClr val="6B7080"/>
                </a:solidFill>
                <a:latin typeface="Arial"/>
              </a:rPr>
              <a:t>+ In-app банер, email/push Food &amp; Rides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874519"/>
            <a:ext cx="2606040" cy="2194560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103120"/>
            <a:ext cx="2240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Big</a:t>
            </a:r>
          </a:p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10× охоплення</a:t>
            </a:r>
          </a:p>
          <a:p>
            <a:pPr algn="ctr"/>
            <a:r>
              <a:rPr sz="1050" b="0">
                <a:solidFill>
                  <a:srgbClr val="FFFFFF"/>
                </a:solidFill>
                <a:latin typeface="Arial"/>
              </a:rPr>
              <a:t>+ Спец-категорія, pop-up, соцмережі, paid ads, інфлюенсери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92608"/>
            <a:ext cx="1280160" cy="5088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57200" cy="64008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12648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4D186"/>
                </a:solidFill>
                <a:latin typeface="Arial"/>
              </a:rPr>
              <a:t>IN-STORE BRANDING</a:t>
            </a:r>
          </a:p>
          <a:p>
            <a:r>
              <a:rPr sz="2700" b="1">
                <a:solidFill>
                  <a:srgbClr val="2F313F"/>
                </a:solidFill>
                <a:latin typeface="Arial"/>
              </a:rPr>
              <a:t>Підтримка офлайн-брендингу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11680"/>
            <a:ext cx="78638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4"/>
              </a:spcAft>
            </a:pPr>
            <a:r>
              <a:rPr sz="1300" b="1">
                <a:solidFill>
                  <a:srgbClr val="34D186"/>
                </a:solidFill>
                <a:latin typeface="Arial"/>
              </a:rPr>
              <a:t>•  </a:t>
            </a:r>
            <a:r>
              <a:rPr sz="1300" b="1">
                <a:solidFill>
                  <a:srgbClr val="2F313F"/>
                </a:solidFill>
                <a:latin typeface="Arial"/>
              </a:rPr>
              <a:t>Брендинг у точках —</a:t>
            </a:r>
            <a:r>
              <a:rPr sz="1300" b="0">
                <a:solidFill>
                  <a:srgbClr val="6B7080"/>
                </a:solidFill>
                <a:latin typeface="Arial"/>
              </a:rPr>
              <a:t> Bolt підтримує оформлення та видимість бренду на місцях продажу.</a:t>
            </a:r>
          </a:p>
          <a:p>
            <a:pPr>
              <a:spcAft>
                <a:spcPts val="504"/>
              </a:spcAft>
            </a:pPr>
            <a:r>
              <a:rPr sz="1300" b="1">
                <a:solidFill>
                  <a:srgbClr val="34D186"/>
                </a:solidFill>
                <a:latin typeface="Arial"/>
              </a:rPr>
              <a:t>•  </a:t>
            </a:r>
            <a:r>
              <a:rPr sz="1300" b="1">
                <a:solidFill>
                  <a:srgbClr val="2F313F"/>
                </a:solidFill>
                <a:latin typeface="Arial"/>
              </a:rPr>
              <a:t>Зв'язок онлайн ↔ офлайн —</a:t>
            </a:r>
            <a:r>
              <a:rPr sz="1300" b="0">
                <a:solidFill>
                  <a:srgbClr val="6B7080"/>
                </a:solidFill>
                <a:latin typeface="Arial"/>
              </a:rPr>
              <a:t> офлайн-аудиторія дізнається про вашу присутність на Bolt Food.</a:t>
            </a:r>
          </a:p>
          <a:p>
            <a:pPr>
              <a:spcAft>
                <a:spcPts val="504"/>
              </a:spcAft>
            </a:pPr>
            <a:r>
              <a:rPr sz="1300" b="1">
                <a:solidFill>
                  <a:srgbClr val="34D186"/>
                </a:solidFill>
                <a:latin typeface="Arial"/>
              </a:rPr>
              <a:t>•  </a:t>
            </a:r>
            <a:r>
              <a:rPr sz="1300" b="1">
                <a:solidFill>
                  <a:srgbClr val="2F313F"/>
                </a:solidFill>
                <a:latin typeface="Arial"/>
              </a:rPr>
              <a:t>Спільні матеріали —</a:t>
            </a:r>
            <a:r>
              <a:rPr sz="1300" b="0">
                <a:solidFill>
                  <a:srgbClr val="6B7080"/>
                </a:solidFill>
                <a:latin typeface="Arial"/>
              </a:rPr>
              <a:t> банери, наліпки, POS-матеріали для промо-періодів.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92608"/>
            <a:ext cx="1280160" cy="5088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57200" cy="64008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12648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4D186"/>
                </a:solidFill>
                <a:latin typeface="Arial"/>
              </a:rPr>
              <a:t>КАЛЕНДАР 2026</a:t>
            </a:r>
          </a:p>
          <a:p>
            <a:r>
              <a:rPr sz="2700" b="1">
                <a:solidFill>
                  <a:srgbClr val="2F313F"/>
                </a:solidFill>
                <a:latin typeface="Arial"/>
              </a:rPr>
              <a:t>Кампанії H1 — план активностей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83080"/>
          <a:ext cx="804672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225040"/>
                <a:gridCol w="2225040"/>
                <a:gridCol w="2225040"/>
              </a:tblGrid>
              <a:tr h="37882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Місяць</a:t>
                      </a:r>
                    </a:p>
                  </a:txBody>
                  <a:tcPr>
                    <a:solidFill>
                      <a:srgbClr val="2F31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Кампанія 1</a:t>
                      </a:r>
                    </a:p>
                  </a:txBody>
                  <a:tcPr>
                    <a:solidFill>
                      <a:srgbClr val="2F31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Кампанія 2</a:t>
                      </a:r>
                    </a:p>
                  </a:txBody>
                  <a:tcPr>
                    <a:solidFill>
                      <a:srgbClr val="2F31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Кампанія 3</a:t>
                      </a:r>
                    </a:p>
                  </a:txBody>
                  <a:tcPr>
                    <a:solidFill>
                      <a:srgbClr val="2F313F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F313F"/>
                          </a:solidFill>
                          <a:latin typeface="Arial"/>
                        </a:rPr>
                        <a:t>Січень</a:t>
                      </a:r>
                    </a:p>
                  </a:txBody>
                  <a:tcPr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080"/>
                          </a:solidFill>
                          <a:latin typeface="Arial"/>
                        </a:rPr>
                        <a:t>Новий рік</a:t>
                      </a:r>
                    </a:p>
                  </a:txBody>
                  <a:tcPr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080"/>
                          </a:solidFill>
                          <a:latin typeface="Arial"/>
                        </a:rPr>
                        <a:t>Treat Yourself Week</a:t>
                      </a:r>
                    </a:p>
                  </a:txBody>
                  <a:tcPr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080"/>
                          </a:solidFill>
                          <a:latin typeface="Arial"/>
                        </a:rPr>
                        <a:t>New Year, Same Favourites</a:t>
                      </a:r>
                    </a:p>
                  </a:txBody>
                  <a:tcPr>
                    <a:solidFill>
                      <a:srgbClr val="EEF6F1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F313F"/>
                          </a:solidFill>
                          <a:latin typeface="Arial"/>
                        </a:rPr>
                        <a:t>Лютий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080"/>
                          </a:solidFill>
                          <a:latin typeface="Arial"/>
                        </a:rPr>
                        <a:t>Treat Yourself Week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080"/>
                          </a:solidFill>
                          <a:latin typeface="Arial"/>
                        </a:rPr>
                        <a:t>День Св. Валентина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F313F"/>
                          </a:solidFill>
                          <a:latin typeface="Arial"/>
                        </a:rPr>
                        <a:t>Березень</a:t>
                      </a:r>
                    </a:p>
                  </a:txBody>
                  <a:tcPr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080"/>
                          </a:solidFill>
                          <a:latin typeface="Arial"/>
                        </a:rPr>
                        <a:t>8 березня</a:t>
                      </a:r>
                    </a:p>
                  </a:txBody>
                  <a:tcPr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080"/>
                          </a:solidFill>
                          <a:latin typeface="Arial"/>
                        </a:rPr>
                        <a:t>Treat Yourself Week</a:t>
                      </a:r>
                    </a:p>
                  </a:txBody>
                  <a:tcPr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EF6F1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F313F"/>
                          </a:solidFill>
                          <a:latin typeface="Arial"/>
                        </a:rPr>
                        <a:t>Квітень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080"/>
                          </a:solidFill>
                          <a:latin typeface="Arial"/>
                        </a:rPr>
                        <a:t>Великдень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080"/>
                          </a:solidFill>
                          <a:latin typeface="Arial"/>
                        </a:rPr>
                        <a:t>Treat Yourself Week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F313F"/>
                          </a:solidFill>
                          <a:latin typeface="Arial"/>
                        </a:rPr>
                        <a:t>Травень</a:t>
                      </a:r>
                    </a:p>
                  </a:txBody>
                  <a:tcPr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080"/>
                          </a:solidFill>
                          <a:latin typeface="Arial"/>
                        </a:rPr>
                        <a:t>Treat Yourself Week</a:t>
                      </a:r>
                    </a:p>
                  </a:txBody>
                  <a:tcPr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080"/>
                          </a:solidFill>
                          <a:latin typeface="Arial"/>
                        </a:rPr>
                        <a:t>День матері</a:t>
                      </a:r>
                    </a:p>
                  </a:txBody>
                  <a:tcPr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080"/>
                          </a:solidFill>
                          <a:latin typeface="Arial"/>
                        </a:rPr>
                        <a:t>Eurovision Watch Party</a:t>
                      </a:r>
                    </a:p>
                  </a:txBody>
                  <a:tcPr>
                    <a:solidFill>
                      <a:srgbClr val="EEF6F1"/>
                    </a:solidFill>
                  </a:tcPr>
                </a:tc>
              </a:tr>
              <a:tr h="3788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F313F"/>
                          </a:solidFill>
                          <a:latin typeface="Arial"/>
                        </a:rPr>
                        <a:t>Червень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080"/>
                          </a:solidFill>
                          <a:latin typeface="Arial"/>
                        </a:rPr>
                        <a:t>Treat Yourself Week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080"/>
                          </a:solidFill>
                          <a:latin typeface="Arial"/>
                        </a:rPr>
                        <a:t>FIFA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6B7080"/>
                </a:solidFill>
                <a:latin typeface="Arial"/>
              </a:rPr>
              <a:t>Орієнтовний календар Bolt Food. Підлаштовуємо під пет-сезони Master Zoo.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92608"/>
            <a:ext cx="1280160" cy="5088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57200" cy="64008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12648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4D186"/>
                </a:solidFill>
                <a:latin typeface="Arial"/>
              </a:rPr>
              <a:t>АМБІЦІЯ · ЗАМОВЛЕННЯ</a:t>
            </a:r>
          </a:p>
          <a:p>
            <a:r>
              <a:rPr sz="2700" b="1">
                <a:solidFill>
                  <a:srgbClr val="2F313F"/>
                </a:solidFill>
                <a:latin typeface="Arial"/>
              </a:rPr>
              <a:t>Помісячний план на 12 місяців</a:t>
            </a:r>
          </a:p>
        </p:txBody>
      </p:sp>
      <p:pic>
        <p:nvPicPr>
          <p:cNvPr id="5" name="Picture 4" descr="ord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417320"/>
            <a:ext cx="7680960" cy="30907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5720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080"/>
                </a:solidFill>
                <a:latin typeface="Arial"/>
              </a:rPr>
              <a:t>Старт ~80 → </a:t>
            </a:r>
            <a:r>
              <a:rPr sz="1200" b="1">
                <a:solidFill>
                  <a:srgbClr val="34D186"/>
                </a:solidFill>
                <a:latin typeface="Arial"/>
              </a:rPr>
              <a:t>~670 замовлень/міс</a:t>
            </a:r>
            <a:r>
              <a:rPr sz="1200" b="0">
                <a:solidFill>
                  <a:srgbClr val="6B7080"/>
                </a:solidFill>
                <a:latin typeface="Arial"/>
              </a:rPr>
              <a:t> на 12-й місяць · рік 1 разом </a:t>
            </a:r>
            <a:r>
              <a:rPr sz="1200" b="1">
                <a:solidFill>
                  <a:srgbClr val="2F313F"/>
                </a:solidFill>
                <a:latin typeface="Arial"/>
              </a:rPr>
              <a:t>5 329 замовлень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6B7080"/>
                </a:solidFill>
                <a:latin typeface="Arial"/>
              </a:rPr>
              <a:t>Базова частка 12% обсягу Glovo (бенчмарк ритейл-мереж на Bolt). Прогноз модельний.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92608"/>
            <a:ext cx="1280160" cy="5088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57200" cy="64008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12648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4D186"/>
                </a:solidFill>
                <a:latin typeface="Arial"/>
              </a:rPr>
              <a:t>АМБІЦІЯ · GMV</a:t>
            </a:r>
          </a:p>
          <a:p>
            <a:r>
              <a:rPr sz="2700" b="1">
                <a:solidFill>
                  <a:srgbClr val="2F313F"/>
                </a:solidFill>
                <a:latin typeface="Arial"/>
              </a:rPr>
              <a:t>GMV-потенціал, AOV €15</a:t>
            </a:r>
          </a:p>
        </p:txBody>
      </p:sp>
      <p:pic>
        <p:nvPicPr>
          <p:cNvPr id="5" name="Picture 4" descr="gm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371600"/>
            <a:ext cx="7680960" cy="30907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526280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080"/>
                </a:solidFill>
                <a:latin typeface="Arial"/>
              </a:rPr>
              <a:t>Рік 1: </a:t>
            </a:r>
            <a:r>
              <a:rPr sz="1300" b="1">
                <a:solidFill>
                  <a:srgbClr val="34D186"/>
                </a:solidFill>
                <a:latin typeface="Arial"/>
              </a:rPr>
              <a:t>€79 935</a:t>
            </a:r>
            <a:r>
              <a:rPr sz="1200" b="0">
                <a:solidFill>
                  <a:srgbClr val="6B7080"/>
                </a:solidFill>
                <a:latin typeface="Arial"/>
              </a:rPr>
              <a:t>  ·  річний run-rate на 12-й міс: </a:t>
            </a:r>
            <a:r>
              <a:rPr sz="1300" b="1">
                <a:solidFill>
                  <a:srgbClr val="2F313F"/>
                </a:solidFill>
                <a:latin typeface="Arial"/>
              </a:rPr>
              <a:t>€120 960/рік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6B7080"/>
                </a:solidFill>
                <a:latin typeface="Arial"/>
              </a:rPr>
              <a:t>GMV = замовлення × €15 AOV. Базовий сценарій.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92608"/>
            <a:ext cx="1280160" cy="5088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57200" cy="64008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12648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4D186"/>
                </a:solidFill>
                <a:latin typeface="Arial"/>
              </a:rPr>
              <a:t>СЦЕНАРІЇ</a:t>
            </a:r>
          </a:p>
          <a:p>
            <a:r>
              <a:rPr sz="2700" b="1">
                <a:solidFill>
                  <a:srgbClr val="2F313F"/>
                </a:solidFill>
                <a:latin typeface="Arial"/>
              </a:rPr>
              <a:t>Три рівні амбіції — рік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514600" cy="219456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214884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F313F"/>
                </a:solidFill>
                <a:latin typeface="Arial"/>
              </a:rPr>
              <a:t>Консервативний</a:t>
            </a:r>
          </a:p>
          <a:p>
            <a:pPr algn="ctr"/>
            <a:r>
              <a:rPr sz="1050" b="0">
                <a:solidFill>
                  <a:srgbClr val="6B7080"/>
                </a:solidFill>
                <a:latin typeface="Arial"/>
              </a:rPr>
              <a:t>8% обсягу Glovo</a:t>
            </a:r>
          </a:p>
          <a:p>
            <a:pPr algn="ctr"/>
            <a:r>
              <a:rPr sz="2600" b="1">
                <a:solidFill>
                  <a:srgbClr val="34D186"/>
                </a:solidFill>
                <a:latin typeface="Arial"/>
              </a:rPr>
              <a:t>€53 310</a:t>
            </a:r>
          </a:p>
          <a:p>
            <a:pPr algn="ctr"/>
            <a:r>
              <a:rPr sz="1050" b="0">
                <a:solidFill>
                  <a:srgbClr val="6B7080"/>
                </a:solidFill>
                <a:latin typeface="Arial"/>
              </a:rPr>
              <a:t>GMV рік 1</a:t>
            </a:r>
          </a:p>
          <a:p>
            <a:pPr algn="ctr"/>
            <a:r>
              <a:rPr sz="1200" b="1">
                <a:solidFill>
                  <a:srgbClr val="2F313F"/>
                </a:solidFill>
                <a:latin typeface="Arial"/>
              </a:rPr>
              <a:t>3 554 замовлень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6120" y="1828800"/>
            <a:ext cx="2514600" cy="2194560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29000" y="2011680"/>
            <a:ext cx="214884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Базовий</a:t>
            </a:r>
          </a:p>
          <a:p>
            <a:pPr algn="ctr"/>
            <a:r>
              <a:rPr sz="1050" b="0">
                <a:solidFill>
                  <a:srgbClr val="FFFFFF"/>
                </a:solidFill>
                <a:latin typeface="Arial"/>
              </a:rPr>
              <a:t>12% обсягу Glovo</a:t>
            </a:r>
          </a:p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€79 935</a:t>
            </a:r>
          </a:p>
          <a:p>
            <a:pPr algn="ctr"/>
            <a:r>
              <a:rPr sz="1050" b="0">
                <a:solidFill>
                  <a:srgbClr val="FFFFFF"/>
                </a:solidFill>
                <a:latin typeface="Arial"/>
              </a:rPr>
              <a:t>GMV рік 1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5 329 замовлень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1828800"/>
            <a:ext cx="2514600" cy="219456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2011680"/>
            <a:ext cx="214884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F313F"/>
                </a:solidFill>
                <a:latin typeface="Arial"/>
              </a:rPr>
              <a:t>Амбітний</a:t>
            </a:r>
          </a:p>
          <a:p>
            <a:pPr algn="ctr"/>
            <a:r>
              <a:rPr sz="1050" b="0">
                <a:solidFill>
                  <a:srgbClr val="6B7080"/>
                </a:solidFill>
                <a:latin typeface="Arial"/>
              </a:rPr>
              <a:t>18% обсягу Glovo</a:t>
            </a:r>
          </a:p>
          <a:p>
            <a:pPr algn="ctr"/>
            <a:r>
              <a:rPr sz="2600" b="1">
                <a:solidFill>
                  <a:srgbClr val="34D186"/>
                </a:solidFill>
                <a:latin typeface="Arial"/>
              </a:rPr>
              <a:t>€119 925</a:t>
            </a:r>
          </a:p>
          <a:p>
            <a:pPr algn="ctr"/>
            <a:r>
              <a:rPr sz="1050" b="0">
                <a:solidFill>
                  <a:srgbClr val="6B7080"/>
                </a:solidFill>
                <a:latin typeface="Arial"/>
              </a:rPr>
              <a:t>GMV рік 1</a:t>
            </a:r>
          </a:p>
          <a:p>
            <a:pPr algn="ctr"/>
            <a:r>
              <a:rPr sz="1200" b="1">
                <a:solidFill>
                  <a:srgbClr val="2F313F"/>
                </a:solidFill>
                <a:latin typeface="Arial"/>
              </a:rPr>
              <a:t>7 995 замовлень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6B7080"/>
                </a:solidFill>
                <a:latin typeface="Arial"/>
              </a:rPr>
              <a:t>AOV €15. Базовий сценарій — рекомендований.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92608"/>
            <a:ext cx="1280160" cy="5088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57200" cy="64008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12648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4D186"/>
                </a:solidFill>
                <a:latin typeface="Arial"/>
              </a:rPr>
              <a:t>ПРОМО · ЯК РОЗГАНЯЄМО ЗАМОВЛЕННЯ</a:t>
            </a:r>
          </a:p>
          <a:p>
            <a:r>
              <a:rPr sz="2700" b="1">
                <a:solidFill>
                  <a:srgbClr val="2F313F"/>
                </a:solidFill>
                <a:latin typeface="Arial"/>
              </a:rPr>
              <a:t>Промо-інструменти Bolt Food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1883664" cy="141732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94944" y="1792224"/>
            <a:ext cx="365760" cy="365760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810512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212848"/>
            <a:ext cx="162763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2F313F"/>
                </a:solidFill>
                <a:latin typeface="Arial"/>
              </a:rPr>
              <a:t>Знижка на доставку</a:t>
            </a:r>
          </a:p>
          <a:p>
            <a:r>
              <a:rPr sz="1000" b="0">
                <a:solidFill>
                  <a:srgbClr val="6B7080"/>
                </a:solidFill>
                <a:latin typeface="Arial"/>
              </a:rPr>
              <a:t>Частково або 0 ₴. №1 інструмент для залучення нових клієнтів.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96896" y="1645920"/>
            <a:ext cx="1883664" cy="141732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43200" y="1792224"/>
            <a:ext cx="365760" cy="365760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1810512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24912" y="2212848"/>
            <a:ext cx="162763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2F313F"/>
                </a:solidFill>
                <a:latin typeface="Arial"/>
              </a:rPr>
              <a:t>Знижки на меню</a:t>
            </a:r>
          </a:p>
          <a:p>
            <a:r>
              <a:rPr sz="1000" b="0">
                <a:solidFill>
                  <a:srgbClr val="6B7080"/>
                </a:solidFill>
                <a:latin typeface="Arial"/>
              </a:rPr>
              <a:t>На окремі позиції або весь асортимент — через API або від Bolt.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45152" y="1645920"/>
            <a:ext cx="1883664" cy="141732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791456" y="1792224"/>
            <a:ext cx="365760" cy="365760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91456" y="1810512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73168" y="2212848"/>
            <a:ext cx="162763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2F313F"/>
                </a:solidFill>
                <a:latin typeface="Arial"/>
              </a:rPr>
              <a:t>Когорти</a:t>
            </a:r>
          </a:p>
          <a:p>
            <a:r>
              <a:rPr sz="1000" b="0">
                <a:solidFill>
                  <a:srgbClr val="6B7080"/>
                </a:solidFill>
                <a:latin typeface="Arial"/>
              </a:rPr>
              <a:t>Таргет на Нових / Втрачених / Активних — різний розмір знижки.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93408" y="1645920"/>
            <a:ext cx="1883664" cy="141732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839712" y="1792224"/>
            <a:ext cx="365760" cy="365760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39712" y="1810512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21424" y="2212848"/>
            <a:ext cx="162763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2F313F"/>
                </a:solidFill>
                <a:latin typeface="Arial"/>
              </a:rPr>
              <a:t>Банерна підтримка</a:t>
            </a:r>
          </a:p>
          <a:p>
            <a:r>
              <a:rPr sz="1000" b="0">
                <a:solidFill>
                  <a:srgbClr val="6B7080"/>
                </a:solidFill>
                <a:latin typeface="Arial"/>
              </a:rPr>
              <a:t>Банер у вкладці «Магазини» в періоди активних акцій.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246120"/>
            <a:ext cx="3886200" cy="105156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246120"/>
            <a:ext cx="82296" cy="1051560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383280"/>
            <a:ext cx="3520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2F313F"/>
                </a:solidFill>
                <a:latin typeface="Arial"/>
              </a:rPr>
              <a:t>Рекомендований старт</a:t>
            </a:r>
          </a:p>
          <a:p>
            <a:r>
              <a:rPr sz="1050" b="0">
                <a:solidFill>
                  <a:srgbClr val="6B7080"/>
                </a:solidFill>
                <a:latin typeface="Arial"/>
              </a:rPr>
              <a:t>Безкоштовна доставка для нових клієнтів + MOV трохи вищий за середній чек.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09160" y="3246120"/>
            <a:ext cx="3886200" cy="105156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709160" y="3246120"/>
            <a:ext cx="82296" cy="1051560"/>
          </a:xfrm>
          <a:prstGeom prst="rect">
            <a:avLst/>
          </a:prstGeom>
          <a:solidFill>
            <a:srgbClr val="2F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37760" y="3383280"/>
            <a:ext cx="3520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2F313F"/>
                </a:solidFill>
                <a:latin typeface="Arial"/>
              </a:rPr>
              <a:t>Оподаткування (ПДВ)</a:t>
            </a:r>
          </a:p>
          <a:p>
            <a:r>
              <a:rPr sz="1050" b="0">
                <a:solidFill>
                  <a:srgbClr val="6B7080"/>
                </a:solidFill>
                <a:latin typeface="Arial"/>
              </a:rPr>
              <a:t>Знижки через Bolt → +20% ПДВ. Через API (зміна цін партнером) → без ПДВ.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6B7080"/>
                </a:solidFill>
                <a:latin typeface="Arial"/>
              </a:rPr>
              <a:t>Джерело: гайд «Промо-активності на Bolt Food» для партнерів (Україна)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92608"/>
            <a:ext cx="1280160" cy="5088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57200" cy="64008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12648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4D186"/>
                </a:solidFill>
                <a:latin typeface="Arial"/>
              </a:rPr>
              <a:t>ЗАПУСК</a:t>
            </a:r>
          </a:p>
          <a:p>
            <a:r>
              <a:rPr sz="2700" b="1">
                <a:solidFill>
                  <a:srgbClr val="2F313F"/>
                </a:solidFill>
                <a:latin typeface="Arial"/>
              </a:rPr>
              <a:t>З чого починаємо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F313F"/>
                </a:solidFill>
                <a:latin typeface="Arial"/>
              </a:rPr>
              <a:t>Топ-міста для старту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0280"/>
            <a:ext cx="3840480" cy="384048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276856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2F313F"/>
                </a:solidFill>
                <a:latin typeface="Arial"/>
              </a:rPr>
              <a:t>Київ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2276856"/>
            <a:ext cx="731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50" b="1">
                <a:solidFill>
                  <a:srgbClr val="34D186"/>
                </a:solidFill>
                <a:latin typeface="Arial"/>
              </a:rPr>
              <a:t>41%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97480"/>
            <a:ext cx="3840480" cy="384048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734056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2F313F"/>
                </a:solidFill>
                <a:latin typeface="Arial"/>
              </a:rPr>
              <a:t>Львів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734056"/>
            <a:ext cx="731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50" b="1">
                <a:solidFill>
                  <a:srgbClr val="34D186"/>
                </a:solidFill>
                <a:latin typeface="Arial"/>
              </a:rPr>
              <a:t>13%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154680"/>
            <a:ext cx="3840480" cy="384048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3191256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2F313F"/>
                </a:solidFill>
                <a:latin typeface="Arial"/>
              </a:rPr>
              <a:t>Одеса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191256"/>
            <a:ext cx="731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50" b="1">
                <a:solidFill>
                  <a:srgbClr val="34D186"/>
                </a:solidFill>
                <a:latin typeface="Arial"/>
              </a:rPr>
              <a:t>8%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611880"/>
            <a:ext cx="3840480" cy="384048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3648456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2F313F"/>
                </a:solidFill>
                <a:latin typeface="Arial"/>
              </a:rPr>
              <a:t>Дніпро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3648456"/>
            <a:ext cx="731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50" b="1">
                <a:solidFill>
                  <a:srgbClr val="34D186"/>
                </a:solidFill>
                <a:latin typeface="Arial"/>
              </a:rPr>
              <a:t>4%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69080"/>
            <a:ext cx="3840480" cy="384048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4105656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2F313F"/>
                </a:solidFill>
                <a:latin typeface="Arial"/>
              </a:rPr>
              <a:t>Івано-Франківськ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4105656"/>
            <a:ext cx="731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50" b="1">
                <a:solidFill>
                  <a:srgbClr val="34D186"/>
                </a:solidFill>
                <a:latin typeface="Arial"/>
              </a:rPr>
              <a:t>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178308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F313F"/>
                </a:solidFill>
                <a:latin typeface="Arial"/>
              </a:rPr>
              <a:t>Наступні кроки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0" y="2240280"/>
            <a:ext cx="292608" cy="292608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0" y="2221992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6360" y="2203704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F313F"/>
                </a:solidFill>
                <a:latin typeface="Arial"/>
              </a:rPr>
              <a:t>Підтвердити інтерес і scope пілоту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80" y="2697480"/>
            <a:ext cx="292608" cy="292608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0" y="2679192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66360" y="2660904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F313F"/>
                </a:solidFill>
                <a:latin typeface="Arial"/>
              </a:rPr>
              <a:t>Інтеграція каталогу та цін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0" y="3154680"/>
            <a:ext cx="292608" cy="292608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0" y="3136392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66360" y="3118104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F313F"/>
                </a:solidFill>
                <a:latin typeface="Arial"/>
              </a:rPr>
              <a:t>Запуск у топ-3 містах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754880" y="3611880"/>
            <a:ext cx="292608" cy="292608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54880" y="3593592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66360" y="3575304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F313F"/>
                </a:solidFill>
                <a:latin typeface="Arial"/>
              </a:rPr>
              <a:t>Спільний маркетинг на старті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754880" y="4069080"/>
            <a:ext cx="292608" cy="292608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0" y="4050792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66360" y="4032504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F313F"/>
                </a:solidFill>
                <a:latin typeface="Arial"/>
              </a:rPr>
              <a:t>Огляд результатів через 4 тижні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F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48640"/>
            <a:ext cx="1828800" cy="72687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20240"/>
            <a:ext cx="8046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Arial"/>
              </a:rPr>
              <a:t>Готові запустити Master Zoo на Bolt Food</a:t>
            </a:r>
          </a:p>
          <a:p>
            <a:r>
              <a:rPr sz="1600" b="1">
                <a:solidFill>
                  <a:srgbClr val="34D186"/>
                </a:solidFill>
                <a:latin typeface="Arial"/>
              </a:rPr>
              <a:t>Рік 1: ~5 329 замовлень  ·  €79 935 GMV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20624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AA0AC"/>
                </a:solidFill>
                <a:latin typeface="Arial"/>
              </a:rPr>
              <a:t>Дякуємо! Обговоримо деталі пілоту.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