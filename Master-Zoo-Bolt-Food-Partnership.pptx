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011680" cy="7995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74519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4D186"/>
                </a:solidFill>
                <a:latin typeface="Arial"/>
              </a:rPr>
              <a:t>Partnership proposal</a:t>
            </a:r>
          </a:p>
          <a:p>
            <a:r>
              <a:rPr sz="4000" b="1">
                <a:solidFill>
                  <a:srgbClr val="FFFFFF"/>
                </a:solidFill>
                <a:latin typeface="Arial"/>
              </a:rPr>
              <a:t>Master Zoo × Bolt Food</a:t>
            </a:r>
          </a:p>
          <a:p>
            <a:r>
              <a:rPr sz="1800" b="0">
                <a:solidFill>
                  <a:srgbClr val="C9CED6"/>
                </a:solidFill>
                <a:latin typeface="Arial"/>
              </a:rPr>
              <a:t>Де ми зараз і куди ростемо разом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0AC"/>
                </a:solidFill>
                <a:latin typeface="Arial"/>
              </a:rPr>
              <a:t>Перша зустріч · Україна · Червень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AGENDA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Про що говоримо сьогодні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02920" cy="50292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3794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4D186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4650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F313F"/>
                </a:solidFill>
                <a:latin typeface="Arial"/>
              </a:rPr>
              <a:t>Bolt Food та екосистема</a:t>
            </a:r>
          </a:p>
          <a:p>
            <a:r>
              <a:rPr sz="1200" b="0">
                <a:solidFill>
                  <a:srgbClr val="6B7080"/>
                </a:solidFill>
                <a:latin typeface="Arial"/>
              </a:rPr>
              <a:t>масштаб і динаміка росту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04872"/>
            <a:ext cx="502920" cy="50292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5973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4D186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68296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F313F"/>
                </a:solidFill>
                <a:latin typeface="Arial"/>
              </a:rPr>
              <a:t>Де Master Zoo зараз</a:t>
            </a:r>
          </a:p>
          <a:p>
            <a:r>
              <a:rPr sz="1200" b="0">
                <a:solidFill>
                  <a:srgbClr val="6B7080"/>
                </a:solidFill>
                <a:latin typeface="Arial"/>
              </a:rPr>
              <a:t>ваша позиція на ринку доставки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26664"/>
            <a:ext cx="502920" cy="50292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815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4D186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90088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F313F"/>
                </a:solidFill>
                <a:latin typeface="Arial"/>
              </a:rPr>
              <a:t>Чому Bolt</a:t>
            </a:r>
          </a:p>
          <a:p>
            <a:r>
              <a:rPr sz="1200" b="0">
                <a:solidFill>
                  <a:srgbClr val="6B7080"/>
                </a:solidFill>
                <a:latin typeface="Arial"/>
              </a:rPr>
              <a:t>інкрементальний попит, Bolt Plus, маркетинг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48456"/>
            <a:ext cx="502920" cy="50292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03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4D186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1188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F313F"/>
                </a:solidFill>
                <a:latin typeface="Arial"/>
              </a:rPr>
              <a:t>Амбіція: замовлення та GMV</a:t>
            </a:r>
          </a:p>
          <a:p>
            <a:r>
              <a:rPr sz="1200" b="0">
                <a:solidFill>
                  <a:srgbClr val="6B7080"/>
                </a:solidFill>
                <a:latin typeface="Arial"/>
              </a:rPr>
              <a:t>помісячний план на 12 міс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70248"/>
            <a:ext cx="502920" cy="50292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251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4D186"/>
                </a:solidFill>
                <a:latin typeface="Arial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33672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F313F"/>
                </a:solidFill>
                <a:latin typeface="Arial"/>
              </a:rPr>
              <a:t>Наступні кроки</a:t>
            </a:r>
          </a:p>
          <a:p>
            <a:r>
              <a:rPr sz="1200" b="0">
                <a:solidFill>
                  <a:srgbClr val="6B7080"/>
                </a:solidFill>
                <a:latin typeface="Arial"/>
              </a:rPr>
              <a:t>як швидко стартуємо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BOLT TODAY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Bolt — у цифрах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554480" cy="128016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139696"/>
            <a:ext cx="133502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D186"/>
                </a:solidFill>
                <a:latin typeface="Arial"/>
              </a:rPr>
              <a:t>50+</a:t>
            </a:r>
          </a:p>
          <a:p>
            <a:pPr algn="ctr"/>
            <a:r>
              <a:rPr sz="1150" b="0">
                <a:solidFill>
                  <a:srgbClr val="6B7080"/>
                </a:solidFill>
                <a:latin typeface="Arial"/>
              </a:rPr>
              <a:t>країн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7712" y="2011680"/>
            <a:ext cx="1554480" cy="128016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2139696"/>
            <a:ext cx="133502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D186"/>
                </a:solidFill>
                <a:latin typeface="Arial"/>
              </a:rPr>
              <a:t>850+</a:t>
            </a:r>
          </a:p>
          <a:p>
            <a:pPr algn="ctr"/>
            <a:r>
              <a:rPr sz="1150" b="0">
                <a:solidFill>
                  <a:srgbClr val="6B7080"/>
                </a:solidFill>
                <a:latin typeface="Arial"/>
              </a:rPr>
              <a:t>міст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86783" y="2011680"/>
            <a:ext cx="1554480" cy="128016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1" y="2139696"/>
            <a:ext cx="133502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D186"/>
                </a:solidFill>
                <a:latin typeface="Arial"/>
              </a:rPr>
              <a:t>4 млн+</a:t>
            </a:r>
          </a:p>
          <a:p>
            <a:pPr algn="ctr"/>
            <a:r>
              <a:rPr sz="1150" b="0">
                <a:solidFill>
                  <a:srgbClr val="6B7080"/>
                </a:solidFill>
                <a:latin typeface="Arial"/>
              </a:rPr>
              <a:t>замовлень/день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05855" y="2011680"/>
            <a:ext cx="1554480" cy="128016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15583" y="2139696"/>
            <a:ext cx="133502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D186"/>
                </a:solidFill>
                <a:latin typeface="Arial"/>
              </a:rPr>
              <a:t>€12 млрд+</a:t>
            </a:r>
          </a:p>
          <a:p>
            <a:pPr algn="ctr"/>
            <a:r>
              <a:rPr sz="1150" b="0">
                <a:solidFill>
                  <a:srgbClr val="6B7080"/>
                </a:solidFill>
                <a:latin typeface="Arial"/>
              </a:rPr>
              <a:t>GMV run-rate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2011680"/>
            <a:ext cx="1554480" cy="128016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5" y="2139696"/>
            <a:ext cx="133502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D186"/>
                </a:solidFill>
                <a:latin typeface="Arial"/>
              </a:rPr>
              <a:t>30%+</a:t>
            </a:r>
          </a:p>
          <a:p>
            <a:pPr algn="ctr"/>
            <a:r>
              <a:rPr sz="1150" b="0">
                <a:solidFill>
                  <a:srgbClr val="6B7080"/>
                </a:solidFill>
                <a:latin typeface="Arial"/>
              </a:rPr>
              <a:t>GMV CAGR 2021–25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080"/>
                </a:solidFill>
                <a:latin typeface="Arial"/>
              </a:rPr>
              <a:t>Один застосунок: доставка їжі та товарів, таксі, оренда — мільйони активних клієнтів в Україні.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MEET BOLT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Вся on-demand екосистема в одному застосунку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06040" cy="16916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606040" cy="45720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8527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Таксі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F313F"/>
                </a:solidFill>
                <a:latin typeface="Arial"/>
              </a:rPr>
              <a:t>40+ країн</a:t>
            </a:r>
          </a:p>
          <a:p>
            <a:pPr algn="ctr"/>
            <a:r>
              <a:rPr sz="1800" b="1">
                <a:solidFill>
                  <a:srgbClr val="2F313F"/>
                </a:solidFill>
                <a:latin typeface="Arial"/>
              </a:rPr>
              <a:t>500+ міст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74519"/>
            <a:ext cx="2606040" cy="16916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874519"/>
            <a:ext cx="2606040" cy="45720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38527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Доставка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146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F313F"/>
                </a:solidFill>
                <a:latin typeface="Arial"/>
              </a:rPr>
              <a:t>15+ країн</a:t>
            </a:r>
          </a:p>
          <a:p>
            <a:pPr algn="ctr"/>
            <a:r>
              <a:rPr sz="1800" b="1">
                <a:solidFill>
                  <a:srgbClr val="2F313F"/>
                </a:solidFill>
                <a:latin typeface="Arial"/>
              </a:rPr>
              <a:t>200+ міст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2606040" cy="16916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874519"/>
            <a:ext cx="2606040" cy="45720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38527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Оренда / самокати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F313F"/>
                </a:solidFill>
                <a:latin typeface="Arial"/>
              </a:rPr>
              <a:t>20+ країн</a:t>
            </a:r>
          </a:p>
          <a:p>
            <a:pPr algn="ctr"/>
            <a:r>
              <a:rPr sz="1800" b="1">
                <a:solidFill>
                  <a:srgbClr val="2F313F"/>
                </a:solidFill>
                <a:latin typeface="Arial"/>
              </a:rPr>
              <a:t>200+ міст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080"/>
                </a:solidFill>
                <a:latin typeface="Arial"/>
              </a:rPr>
              <a:t>Крос-вертикальний ефект: користувачів таксі та Food ми конвертуємо у покупців ваших товарів.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ДЕ ВИ ЗАРАЗ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Master Zoo на ринку доставки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1874519" cy="137160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02536"/>
            <a:ext cx="1655063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F313F"/>
                </a:solidFill>
                <a:latin typeface="Arial"/>
              </a:rPr>
              <a:t>5 513</a:t>
            </a:r>
          </a:p>
          <a:p>
            <a:pPr algn="ctr"/>
            <a:r>
              <a:rPr sz="1150" b="0">
                <a:solidFill>
                  <a:srgbClr val="6B7080"/>
                </a:solidFill>
                <a:latin typeface="Arial"/>
              </a:rPr>
              <a:t>замовлень/міс на Glovo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874519"/>
            <a:ext cx="1874519" cy="137160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5768" y="2002536"/>
            <a:ext cx="1655063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F313F"/>
                </a:solidFill>
                <a:latin typeface="Arial"/>
              </a:rPr>
              <a:t>29</a:t>
            </a:r>
          </a:p>
          <a:p>
            <a:pPr algn="ctr"/>
            <a:r>
              <a:rPr sz="1150" b="0">
                <a:solidFill>
                  <a:srgbClr val="6B7080"/>
                </a:solidFill>
                <a:latin typeface="Arial"/>
              </a:rPr>
              <a:t>міст присутності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874519"/>
            <a:ext cx="1874519" cy="137160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002536"/>
            <a:ext cx="1655063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F313F"/>
                </a:solidFill>
                <a:latin typeface="Arial"/>
              </a:rPr>
              <a:t>#16</a:t>
            </a:r>
          </a:p>
          <a:p>
            <a:pPr algn="ctr"/>
            <a:r>
              <a:rPr sz="1150" b="0">
                <a:solidFill>
                  <a:srgbClr val="6B7080"/>
                </a:solidFill>
                <a:latin typeface="Arial"/>
              </a:rPr>
              <a:t>ритейл-бренд на Glovo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874519"/>
            <a:ext cx="1874519" cy="137160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2002536"/>
            <a:ext cx="1655063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D186"/>
                </a:solidFill>
                <a:latin typeface="Arial"/>
              </a:rPr>
              <a:t>0</a:t>
            </a:r>
          </a:p>
          <a:p>
            <a:pPr algn="ctr"/>
            <a:r>
              <a:rPr sz="1150" b="0">
                <a:solidFill>
                  <a:srgbClr val="6B7080"/>
                </a:solidFill>
                <a:latin typeface="Arial"/>
              </a:rPr>
              <a:t>замовлень на Bolt Food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313F"/>
                </a:solidFill>
                <a:latin typeface="Arial"/>
              </a:rPr>
              <a:t>Висновок: </a:t>
            </a:r>
            <a:r>
              <a:rPr sz="1300" b="0">
                <a:solidFill>
                  <a:srgbClr val="6B7080"/>
                </a:solidFill>
                <a:latin typeface="Arial"/>
              </a:rPr>
              <a:t>сильний, стабільний попит на доставку зоотоварів — але </a:t>
            </a:r>
            <a:r>
              <a:rPr sz="1300" b="1">
                <a:solidFill>
                  <a:srgbClr val="34D186"/>
                </a:solidFill>
                <a:latin typeface="Arial"/>
              </a:rPr>
              <a:t>повністю поза Bolt Food</a:t>
            </a:r>
            <a:r>
              <a:rPr sz="1300" b="0">
                <a:solidFill>
                  <a:srgbClr val="6B7080"/>
                </a:solidFill>
                <a:latin typeface="Arial"/>
              </a:rPr>
              <a:t>. Це чистий новий канал продажів без канібалізації.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B7080"/>
                </a:solidFill>
                <a:latin typeface="Arial"/>
              </a:rPr>
              <a:t>Джерело: Bolt internal data (Databricks) + Get Placed market scan, Jan–Apr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МОЖЛИВІСТЬ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Чому зараз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931920" cy="12344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82296" cy="1234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20824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2F313F"/>
                </a:solidFill>
                <a:latin typeface="Arial"/>
              </a:rPr>
              <a:t>Незайнятий канал</a:t>
            </a:r>
          </a:p>
          <a:p>
            <a:r>
              <a:rPr sz="1150" b="0">
                <a:solidFill>
                  <a:srgbClr val="6B7080"/>
                </a:solidFill>
                <a:latin typeface="Arial"/>
              </a:rPr>
              <a:t>Master Zoo = 0 на Bolt Food. Кожне замовлення — інкрементальне, поверх Glovo.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74519"/>
            <a:ext cx="3931920" cy="12344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874519"/>
            <a:ext cx="82296" cy="1234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2020824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2F313F"/>
                </a:solidFill>
                <a:latin typeface="Arial"/>
              </a:rPr>
              <a:t>Bolt Food росте</a:t>
            </a:r>
          </a:p>
          <a:p>
            <a:r>
              <a:rPr sz="1150" b="0">
                <a:solidFill>
                  <a:srgbClr val="6B7080"/>
                </a:solidFill>
                <a:latin typeface="Arial"/>
              </a:rPr>
              <a:t>Замовлення на платформі ростуть двозначними темпами кв/кв в Україні.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3931920" cy="12344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82296" cy="1234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92424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2F313F"/>
                </a:solidFill>
                <a:latin typeface="Arial"/>
              </a:rPr>
              <a:t>Pets — недопредставлені</a:t>
            </a:r>
          </a:p>
          <a:p>
            <a:r>
              <a:rPr sz="1150" b="0">
                <a:solidFill>
                  <a:srgbClr val="6B7080"/>
                </a:solidFill>
                <a:latin typeface="Arial"/>
              </a:rPr>
              <a:t>Зоотовари майже відсутні в food-delivery. Низька конкуренція, висока лояльність.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246120"/>
            <a:ext cx="3931920" cy="12344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3246120"/>
            <a:ext cx="82296" cy="1234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9472" y="3392424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2F313F"/>
                </a:solidFill>
                <a:latin typeface="Arial"/>
              </a:rPr>
              <a:t>Швидкий старт</a:t>
            </a:r>
          </a:p>
          <a:p>
            <a:r>
              <a:rPr sz="1150" b="0">
                <a:solidFill>
                  <a:srgbClr val="6B7080"/>
                </a:solidFill>
                <a:latin typeface="Arial"/>
              </a:rPr>
              <a:t>Інтеграція меню/каталогу й запуск у топ-містах за кілька тижнів.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ЧОМУ ЗАРАЗ · BOLT FOOD РОСТЕ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Замовлення ростуть двозначними темпами кв/кв</a:t>
            </a:r>
          </a:p>
        </p:txBody>
      </p:sp>
      <p:pic>
        <p:nvPicPr>
          <p:cNvPr id="5" name="Picture 4" descr="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7680960" cy="30907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080"/>
                </a:solidFill>
                <a:latin typeface="Arial"/>
              </a:rPr>
              <a:t>3P-магазини </a:t>
            </a:r>
            <a:r>
              <a:rPr sz="1200" b="1">
                <a:solidFill>
                  <a:srgbClr val="34D186"/>
                </a:solidFill>
                <a:latin typeface="Arial"/>
              </a:rPr>
              <a:t>2 401 → 6 429 (+168%)</a:t>
            </a:r>
            <a:r>
              <a:rPr sz="1200" b="0">
                <a:solidFill>
                  <a:srgbClr val="6B7080"/>
                </a:solidFill>
                <a:latin typeface="Arial"/>
              </a:rPr>
              <a:t>  ·  замовлення </a:t>
            </a:r>
            <a:r>
              <a:rPr sz="1200" b="1">
                <a:solidFill>
                  <a:srgbClr val="2F313F"/>
                </a:solidFill>
                <a:latin typeface="Arial"/>
              </a:rPr>
              <a:t>78k → 154k (×2)</a:t>
            </a:r>
            <a:r>
              <a:rPr sz="1200" b="0">
                <a:solidFill>
                  <a:srgbClr val="6B7080"/>
                </a:solidFill>
                <a:latin typeface="Arial"/>
              </a:rPr>
              <a:t>  за Jan→Apr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B7080"/>
                </a:solidFill>
                <a:latin typeface="Arial"/>
              </a:rPr>
              <a:t>Базуючись на ринкових даних (Get Placed market scan), Jan–Apr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ЧОМУ BOLT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Новий канал росту — без ризику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931920" cy="12344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82296" cy="1234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02536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13F"/>
                </a:solidFill>
                <a:latin typeface="Arial"/>
              </a:rPr>
              <a:t>40% — нові клієнти</a:t>
            </a:r>
          </a:p>
          <a:p>
            <a:r>
              <a:rPr sz="1050" b="0">
                <a:solidFill>
                  <a:srgbClr val="6B7080"/>
                </a:solidFill>
                <a:latin typeface="Arial"/>
              </a:rPr>
              <a:t>У середньому 40% замовлень магазину — від клієнтів, які вперше замовляють саме у вас. Чистий інкрементальний попит.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74519"/>
            <a:ext cx="3931920" cy="12344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874519"/>
            <a:ext cx="82296" cy="1234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2002536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13F"/>
                </a:solidFill>
                <a:latin typeface="Arial"/>
              </a:rPr>
              <a:t>Крос-вертикальний попит</a:t>
            </a:r>
          </a:p>
          <a:p>
            <a:r>
              <a:rPr sz="1050" b="0">
                <a:solidFill>
                  <a:srgbClr val="6B7080"/>
                </a:solidFill>
                <a:latin typeface="Arial"/>
              </a:rPr>
              <a:t>Аудиторію таксі та Bolt Food конвертуємо у покупців ваших товарів — нові цифрові клієнти поза вашою офлайн-базою.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3931920" cy="12344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82296" cy="1234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74136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13F"/>
                </a:solidFill>
                <a:latin typeface="Arial"/>
              </a:rPr>
              <a:t>Модель на комісії</a:t>
            </a:r>
          </a:p>
          <a:p>
            <a:r>
              <a:rPr sz="1050" b="0">
                <a:solidFill>
                  <a:srgbClr val="6B7080"/>
                </a:solidFill>
                <a:latin typeface="Arial"/>
              </a:rPr>
              <a:t>Без цінових війн, демпінгу й витрат на експансію магазинів. Маркетинг-подібна інвестиція з високим ROI.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246120"/>
            <a:ext cx="3931920" cy="12344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3246120"/>
            <a:ext cx="82296" cy="1234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9472" y="3374136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13F"/>
                </a:solidFill>
                <a:latin typeface="Arial"/>
              </a:rPr>
              <a:t>Орієнтир економіки</a:t>
            </a:r>
          </a:p>
          <a:p>
            <a:r>
              <a:rPr sz="1050" b="0">
                <a:solidFill>
                  <a:srgbClr val="6B7080"/>
                </a:solidFill>
                <a:latin typeface="Arial"/>
              </a:rPr>
              <a:t>≈16 замовлень/магазин/день, частота ~2× на місяць — і зростає з підпискою та промо.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B7080"/>
                </a:solidFill>
                <a:latin typeface="Arial"/>
              </a:rPr>
              <a:t>Джерело: Bolt market materials (MWB Sales Pitch).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BOLT PLUS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Преміум-аудиторія, що замовляє частіше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514600" cy="132588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11095"/>
            <a:ext cx="229514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D186"/>
                </a:solidFill>
                <a:latin typeface="Arial"/>
              </a:rPr>
              <a:t>2.1–2.2×</a:t>
            </a:r>
          </a:p>
          <a:p>
            <a:pPr algn="ctr"/>
            <a:r>
              <a:rPr sz="1150" b="0">
                <a:solidFill>
                  <a:srgbClr val="6B7080"/>
                </a:solidFill>
                <a:latin typeface="Arial"/>
              </a:rPr>
              <a:t>частіше замовляють підписники Bolt+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783080"/>
            <a:ext cx="2514600" cy="132588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911095"/>
            <a:ext cx="229514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D186"/>
                </a:solidFill>
                <a:latin typeface="Arial"/>
              </a:rPr>
              <a:t>+12–17%</a:t>
            </a:r>
          </a:p>
          <a:p>
            <a:pPr algn="ctr"/>
            <a:r>
              <a:rPr sz="1150" b="0">
                <a:solidFill>
                  <a:srgbClr val="6B7080"/>
                </a:solidFill>
                <a:latin typeface="Arial"/>
              </a:rPr>
              <a:t>замовлень/міс після оформлення підписки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783080"/>
            <a:ext cx="2651760" cy="132588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911095"/>
            <a:ext cx="243230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F313F"/>
                </a:solidFill>
                <a:latin typeface="Arial"/>
              </a:rPr>
              <a:t>3 сервіси</a:t>
            </a:r>
          </a:p>
          <a:p>
            <a:pPr algn="ctr"/>
            <a:r>
              <a:rPr sz="1150" b="0">
                <a:solidFill>
                  <a:srgbClr val="6B7080"/>
                </a:solidFill>
                <a:latin typeface="Arial"/>
              </a:rPr>
              <a:t>таксі · Bolt Food · самокати в одній підписці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</a:pPr>
            <a:r>
              <a:rPr sz="1200" b="1">
                <a:solidFill>
                  <a:srgbClr val="34D186"/>
                </a:solidFill>
                <a:latin typeface="Arial"/>
              </a:rPr>
              <a:t>•  </a:t>
            </a:r>
            <a:r>
              <a:rPr sz="1200" b="1">
                <a:solidFill>
                  <a:srgbClr val="2F313F"/>
                </a:solidFill>
                <a:latin typeface="Arial"/>
              </a:rPr>
              <a:t>Доступ до преміум-клієнтів —</a:t>
            </a:r>
            <a:r>
              <a:rPr sz="1200" b="0">
                <a:solidFill>
                  <a:srgbClr val="6B7080"/>
                </a:solidFill>
                <a:latin typeface="Arial"/>
              </a:rPr>
              <a:t> найактивніші користувачі з високим середнім чеком.</a:t>
            </a:r>
          </a:p>
          <a:p>
            <a:pPr>
              <a:spcAft>
                <a:spcPts val="504"/>
              </a:spcAft>
            </a:pPr>
            <a:r>
              <a:rPr sz="1200" b="1">
                <a:solidFill>
                  <a:srgbClr val="34D186"/>
                </a:solidFill>
                <a:latin typeface="Arial"/>
              </a:rPr>
              <a:t>•  </a:t>
            </a:r>
            <a:r>
              <a:rPr sz="1200" b="1">
                <a:solidFill>
                  <a:srgbClr val="2F313F"/>
                </a:solidFill>
                <a:latin typeface="Arial"/>
              </a:rPr>
              <a:t>Більше видимості —</a:t>
            </a:r>
            <a:r>
              <a:rPr sz="1200" b="0">
                <a:solidFill>
                  <a:srgbClr val="6B7080"/>
                </a:solidFill>
                <a:latin typeface="Arial"/>
              </a:rPr>
              <a:t> окрема категорія на головному екрані, банер і бейдж Bolt Plus.</a:t>
            </a:r>
          </a:p>
          <a:p>
            <a:pPr>
              <a:spcAft>
                <a:spcPts val="504"/>
              </a:spcAft>
            </a:pPr>
            <a:r>
              <a:rPr sz="1200" b="1">
                <a:solidFill>
                  <a:srgbClr val="34D186"/>
                </a:solidFill>
                <a:latin typeface="Arial"/>
              </a:rPr>
              <a:t>•  </a:t>
            </a:r>
            <a:r>
              <a:rPr sz="1200" b="1">
                <a:solidFill>
                  <a:srgbClr val="2F313F"/>
                </a:solidFill>
                <a:latin typeface="Arial"/>
              </a:rPr>
              <a:t>Комісія Bolt Plus —</a:t>
            </a:r>
            <a:r>
              <a:rPr sz="1200" b="0">
                <a:solidFill>
                  <a:srgbClr val="6B7080"/>
                </a:solidFill>
                <a:latin typeface="Arial"/>
              </a:rPr>
              <a:t> лише на замовлення підписників; для решти — стандартна комісія.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B7080"/>
                </a:solidFill>
                <a:latin typeface="Arial"/>
              </a:rPr>
              <a:t>Джерело: презентація «Підписка Bolt+» (UA) + внутрішнє моделювання Bolt. dbx: частка замовлень Bolt+ зростає.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ОРІЄНТОВНІ УМОВИ · BOLT+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Середньозважена комісія — 2 сценарії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606040" cy="45720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1965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313F"/>
                </a:solidFill>
                <a:latin typeface="Arial"/>
              </a:rPr>
              <a:t>GMV 6 міс (з Bolt+): 11,5 млн 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783080"/>
            <a:ext cx="2377440" cy="45720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8196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313F"/>
                </a:solidFill>
                <a:latin typeface="Arial"/>
              </a:rPr>
              <a:t>Частка Bolt+: 15%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783080"/>
            <a:ext cx="2788920" cy="45720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59" y="1819656"/>
            <a:ext cx="2697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313F"/>
                </a:solidFill>
                <a:latin typeface="Arial"/>
              </a:rPr>
              <a:t>+2% лише на замовлення Bolt+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313F"/>
                </a:solidFill>
                <a:latin typeface="Arial"/>
              </a:rPr>
              <a:t>Формула: </a:t>
            </a:r>
            <a:r>
              <a:rPr sz="1150" b="0">
                <a:solidFill>
                  <a:srgbClr val="6B7080"/>
                </a:solidFill>
                <a:latin typeface="Arial"/>
              </a:rPr>
              <a:t>середньозважена = база + (15% × 2%) = база + 0,3 п.п.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834640"/>
          <a:ext cx="80467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43000"/>
                <a:gridCol w="868680"/>
                <a:gridCol w="1371600"/>
                <a:gridCol w="1463040"/>
                <a:gridCol w="1097280"/>
              </a:tblGrid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Сценарій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GMV 6 міс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База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Bolt+ (15%×2%)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Середньозважена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Комісія, ₴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313F"/>
                          </a:solidFill>
                          <a:latin typeface="Arial"/>
                        </a:rPr>
                        <a:t>Сценарій 1 — рекоменд.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11,5 млн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+0,3 п.п.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4D186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≈ 1 184 500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313F"/>
                          </a:solidFill>
                          <a:latin typeface="Arial"/>
                        </a:rPr>
                        <a:t>Сценарій 2 — без знижок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11,5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+0,3 п.п.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4D186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≈ 1 414 500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080"/>
                </a:solidFill>
                <a:latin typeface="Arial"/>
              </a:rPr>
              <a:t>Якщо частка Bolt+ = 20% → +0,4 п.п.: сценарій 1 = 10,4%, сценарій 2 = 12,4%.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B7080"/>
                </a:solidFill>
                <a:latin typeface="Arial"/>
              </a:rPr>
              <a:t>+2% Bolt+ застосовується лише до замовлень підписників; решта — за базовою ставкою.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ОРІЄНТОВНІ УМОВИ · BOLT+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Чи варте того? З Bolt+ проти без Bolt+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B7080"/>
                </a:solidFill>
                <a:latin typeface="Arial"/>
              </a:rPr>
              <a:t>11,5 млн ₴ — оборот </a:t>
            </a:r>
            <a:r>
              <a:rPr sz="1150" b="1">
                <a:solidFill>
                  <a:srgbClr val="2F313F"/>
                </a:solidFill>
                <a:latin typeface="Arial"/>
              </a:rPr>
              <a:t>із Bolt+</a:t>
            </a:r>
            <a:r>
              <a:rPr sz="1150" b="0">
                <a:solidFill>
                  <a:srgbClr val="6B7080"/>
                </a:solidFill>
                <a:latin typeface="Arial"/>
              </a:rPr>
              <a:t>. Без програми оборот −10% = 10,35 млн ₴ (усе за базовою ставкою). Дивимось на чисте = GMV − комісія.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86000"/>
          <a:ext cx="8046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645920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Сценарій · показник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Без Bolt+ (10,35 млн)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З Bolt+ (11,5 млн)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Різниця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313F"/>
                          </a:solidFill>
                          <a:latin typeface="Arial"/>
                        </a:rPr>
                        <a:t>Сц. 1 (10%) · комісія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1 035 000 ₴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1 184 500 ₴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4D186"/>
                          </a:solidFill>
                          <a:latin typeface="Arial"/>
                        </a:rPr>
                        <a:t>+149 500 ₴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313F"/>
                          </a:solidFill>
                          <a:latin typeface="Arial"/>
                        </a:rPr>
                        <a:t>Сц. 1 (10%) · чисте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9 315 000 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10 315 500 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4D186"/>
                          </a:solidFill>
                          <a:latin typeface="Arial"/>
                        </a:rPr>
                        <a:t>+1 000 500 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313F"/>
                          </a:solidFill>
                          <a:latin typeface="Arial"/>
                        </a:rPr>
                        <a:t>Сц. 2 (12%) · комісія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1 242 000 ₴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1 414 500 ₴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4D186"/>
                          </a:solidFill>
                          <a:latin typeface="Arial"/>
                        </a:rPr>
                        <a:t>+172 500 ₴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313F"/>
                          </a:solidFill>
                          <a:latin typeface="Arial"/>
                        </a:rPr>
                        <a:t>Сц. 2 (12%) · чисте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9 108 000 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10 085 500 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4D186"/>
                          </a:solidFill>
                          <a:latin typeface="Arial"/>
                        </a:rPr>
                        <a:t>+977 500 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069080"/>
            <a:ext cx="8046720" cy="566928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23944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Без Bolt+ економимо ~150–173 тис ₴ комісії, але чистими втрачаємо ~1 млн ₴ · кожна 1 ₴ комісії → ~7 ₴ обороту → варте того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B7080"/>
                </a:solidFill>
                <a:latin typeface="Arial"/>
              </a:rPr>
              <a:t>Розрахунок: GMV 11,5 млн ₴ (з Bolt+), без Bolt+ −10%; частка Bolt+ 15%, +2% на ці замовлення.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ДОСВІД КОРИСТУВАЧА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Bolt інвестує в Consumer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931920" cy="12344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82296" cy="1234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20824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F313F"/>
                </a:solidFill>
                <a:latin typeface="Arial"/>
              </a:rPr>
              <a:t>Персоналізований контент</a:t>
            </a:r>
          </a:p>
          <a:p>
            <a:r>
              <a:rPr sz="1050" b="0">
                <a:solidFill>
                  <a:srgbClr val="6B7080"/>
                </a:solidFill>
                <a:latin typeface="Arial"/>
              </a:rPr>
              <a:t>Рекомендації на основі історії та вподобань користувача.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74519"/>
            <a:ext cx="3931920" cy="12344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874519"/>
            <a:ext cx="82296" cy="1234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2020824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F313F"/>
                </a:solidFill>
                <a:latin typeface="Arial"/>
              </a:rPr>
              <a:t>Зручний пошук і фільтри</a:t>
            </a:r>
          </a:p>
          <a:p>
            <a:r>
              <a:rPr sz="1050" b="0">
                <a:solidFill>
                  <a:srgbClr val="6B7080"/>
                </a:solidFill>
                <a:latin typeface="Arial"/>
              </a:rPr>
              <a:t>Швидка навігація, що показує більше релевантних товарів.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3931920" cy="12344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82296" cy="1234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92424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F313F"/>
                </a:solidFill>
                <a:latin typeface="Arial"/>
              </a:rPr>
              <a:t>Прості точки входу в магазини</a:t>
            </a:r>
          </a:p>
          <a:p>
            <a:r>
              <a:rPr sz="1050" b="0">
                <a:solidFill>
                  <a:srgbClr val="6B7080"/>
                </a:solidFill>
                <a:latin typeface="Arial"/>
              </a:rPr>
              <a:t>High-intent вкладки внизу екрану ведуть у ваш магазин.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246120"/>
            <a:ext cx="3931920" cy="12344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3246120"/>
            <a:ext cx="82296" cy="1234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9472" y="3392424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F313F"/>
                </a:solidFill>
                <a:latin typeface="Arial"/>
              </a:rPr>
              <a:t>Bolt Plus для утримання</a:t>
            </a:r>
          </a:p>
          <a:p>
            <a:r>
              <a:rPr sz="1050" b="0">
                <a:solidFill>
                  <a:srgbClr val="6B7080"/>
                </a:solidFill>
                <a:latin typeface="Arial"/>
              </a:rPr>
              <a:t>Переваги підписки підвищують частоту та повернення клієнтів.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МАРКЕТИНГОВА ПІДТРИМКА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Маркетинг і реклама, що ростять продажі магазину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606040" cy="7772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2121408"/>
            <a:ext cx="365760" cy="36576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084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313F"/>
                </a:solidFill>
                <a:latin typeface="Arial"/>
              </a:rPr>
              <a:t>Bolt Plus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920240"/>
            <a:ext cx="2606040" cy="7772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47872" y="2121408"/>
            <a:ext cx="365760" cy="36576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2084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313F"/>
                </a:solidFill>
                <a:latin typeface="Arial"/>
              </a:rPr>
              <a:t>In-app engagement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606040" cy="7772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2121408"/>
            <a:ext cx="365760" cy="36576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084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313F"/>
                </a:solidFill>
                <a:latin typeface="Arial"/>
              </a:rPr>
              <a:t>Merchant Offers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0360"/>
            <a:ext cx="2606040" cy="7772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" y="3081528"/>
            <a:ext cx="365760" cy="36576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0449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313F"/>
                </a:solidFill>
                <a:latin typeface="Arial"/>
              </a:rPr>
              <a:t>Online 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880360"/>
            <a:ext cx="2606040" cy="7772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3081528"/>
            <a:ext cx="365760" cy="36576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30449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313F"/>
                </a:solidFill>
                <a:latin typeface="Arial"/>
              </a:rPr>
              <a:t>PR / Social Media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80360"/>
            <a:ext cx="2606040" cy="77724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82512" y="3081528"/>
            <a:ext cx="365760" cy="36576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0449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313F"/>
                </a:solidFill>
                <a:latin typeface="Arial"/>
              </a:rPr>
              <a:t>Email +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080"/>
                </a:solidFill>
                <a:latin typeface="Arial"/>
              </a:rPr>
              <a:t>Комбінація каналів Bolt Food + Bolt Rides дає охоплення, недоступне поодинці.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КАМПАНІЇ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Маркетингові кампанії: до 10× охоплення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06040" cy="219456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F313F"/>
                </a:solidFill>
                <a:latin typeface="Arial"/>
              </a:rPr>
              <a:t>Standard</a:t>
            </a:r>
          </a:p>
          <a:p>
            <a:pPr algn="ctr"/>
            <a:r>
              <a:rPr sz="2400" b="1">
                <a:solidFill>
                  <a:srgbClr val="34D186"/>
                </a:solidFill>
                <a:latin typeface="Arial"/>
              </a:rPr>
              <a:t>1× охоплення</a:t>
            </a:r>
          </a:p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Email + push Bolt Food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74519"/>
            <a:ext cx="2606040" cy="219456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10312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F313F"/>
                </a:solidFill>
                <a:latin typeface="Arial"/>
              </a:rPr>
              <a:t>Small</a:t>
            </a:r>
          </a:p>
          <a:p>
            <a:pPr algn="ctr"/>
            <a:r>
              <a:rPr sz="2400" b="1">
                <a:solidFill>
                  <a:srgbClr val="34D186"/>
                </a:solidFill>
                <a:latin typeface="Arial"/>
              </a:rPr>
              <a:t>2× охоплення</a:t>
            </a:r>
          </a:p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+ In-app банер, email/push Food &amp; Rides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2606040" cy="219456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Big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10× охоплення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+ Спец-категорія, pop-up, соцмережі, paid ads, інфлюенсери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IN-STORE BRANDING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Підтримка офлайн-брендингу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</a:pPr>
            <a:r>
              <a:rPr sz="1300" b="1">
                <a:solidFill>
                  <a:srgbClr val="34D186"/>
                </a:solidFill>
                <a:latin typeface="Arial"/>
              </a:rPr>
              <a:t>•  </a:t>
            </a:r>
            <a:r>
              <a:rPr sz="1300" b="1">
                <a:solidFill>
                  <a:srgbClr val="2F313F"/>
                </a:solidFill>
                <a:latin typeface="Arial"/>
              </a:rPr>
              <a:t>Брендинг у точках —</a:t>
            </a:r>
            <a:r>
              <a:rPr sz="1300" b="0">
                <a:solidFill>
                  <a:srgbClr val="6B7080"/>
                </a:solidFill>
                <a:latin typeface="Arial"/>
              </a:rPr>
              <a:t> Bolt підтримує оформлення та видимість бренду на місцях продажу.</a:t>
            </a:r>
          </a:p>
          <a:p>
            <a:pPr>
              <a:spcAft>
                <a:spcPts val="504"/>
              </a:spcAft>
            </a:pPr>
            <a:r>
              <a:rPr sz="1300" b="1">
                <a:solidFill>
                  <a:srgbClr val="34D186"/>
                </a:solidFill>
                <a:latin typeface="Arial"/>
              </a:rPr>
              <a:t>•  </a:t>
            </a:r>
            <a:r>
              <a:rPr sz="1300" b="1">
                <a:solidFill>
                  <a:srgbClr val="2F313F"/>
                </a:solidFill>
                <a:latin typeface="Arial"/>
              </a:rPr>
              <a:t>Зв'язок онлайн ↔ офлайн —</a:t>
            </a:r>
            <a:r>
              <a:rPr sz="1300" b="0">
                <a:solidFill>
                  <a:srgbClr val="6B7080"/>
                </a:solidFill>
                <a:latin typeface="Arial"/>
              </a:rPr>
              <a:t> офлайн-аудиторія дізнається про вашу присутність на Bolt Food.</a:t>
            </a:r>
          </a:p>
          <a:p>
            <a:pPr>
              <a:spcAft>
                <a:spcPts val="504"/>
              </a:spcAft>
            </a:pPr>
            <a:r>
              <a:rPr sz="1300" b="1">
                <a:solidFill>
                  <a:srgbClr val="34D186"/>
                </a:solidFill>
                <a:latin typeface="Arial"/>
              </a:rPr>
              <a:t>•  </a:t>
            </a:r>
            <a:r>
              <a:rPr sz="1300" b="1">
                <a:solidFill>
                  <a:srgbClr val="2F313F"/>
                </a:solidFill>
                <a:latin typeface="Arial"/>
              </a:rPr>
              <a:t>Спільні матеріали —</a:t>
            </a:r>
            <a:r>
              <a:rPr sz="1300" b="0">
                <a:solidFill>
                  <a:srgbClr val="6B7080"/>
                </a:solidFill>
                <a:latin typeface="Arial"/>
              </a:rPr>
              <a:t> банери, наліпки, POS-матеріали для промо-періодів.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КАЛЕНДАР 2026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Кампанії H1 — план активностей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80467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25040"/>
                <a:gridCol w="2225040"/>
                <a:gridCol w="2225040"/>
              </a:tblGrid>
              <a:tr h="37882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Місяць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Кампанія 1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Кампанія 2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Кампанія 3</a:t>
                      </a:r>
                    </a:p>
                  </a:txBody>
                  <a:tcPr>
                    <a:solidFill>
                      <a:srgbClr val="2F313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313F"/>
                          </a:solidFill>
                          <a:latin typeface="Arial"/>
                        </a:rPr>
                        <a:t>Січень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Новий рік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Treat Yourself Week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New Year, Same Favourites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313F"/>
                          </a:solidFill>
                          <a:latin typeface="Arial"/>
                        </a:rPr>
                        <a:t>Лютий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Treat Yourself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День Св. Валентина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313F"/>
                          </a:solidFill>
                          <a:latin typeface="Arial"/>
                        </a:rPr>
                        <a:t>Березень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8 березня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Treat Yourself Week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F6F1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313F"/>
                          </a:solidFill>
                          <a:latin typeface="Arial"/>
                        </a:rPr>
                        <a:t>Квітень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Великдень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Treat Yourself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313F"/>
                          </a:solidFill>
                          <a:latin typeface="Arial"/>
                        </a:rPr>
                        <a:t>Травень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Treat Yourself Week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День матері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Eurovision Watch Party</a:t>
                      </a:r>
                    </a:p>
                  </a:txBody>
                  <a:tcPr>
                    <a:solidFill>
                      <a:srgbClr val="EEF6F1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313F"/>
                          </a:solidFill>
                          <a:latin typeface="Arial"/>
                        </a:rPr>
                        <a:t>Червень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Treat Yourself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080"/>
                          </a:solidFill>
                          <a:latin typeface="Arial"/>
                        </a:rPr>
                        <a:t>FIFA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B7080"/>
                </a:solidFill>
                <a:latin typeface="Arial"/>
              </a:rPr>
              <a:t>Орієнтовний календар Bolt Food. Підлаштовуємо під пет-сезони Master Zoo.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АМБІЦІЯ · ЗАМОВЛЕННЯ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Помісячний план на 12 місяців</a:t>
            </a:r>
          </a:p>
        </p:txBody>
      </p:sp>
      <p:pic>
        <p:nvPicPr>
          <p:cNvPr id="5" name="Picture 4" descr="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7680960" cy="30907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080"/>
                </a:solidFill>
                <a:latin typeface="Arial"/>
              </a:rPr>
              <a:t>Старт ~80 → </a:t>
            </a:r>
            <a:r>
              <a:rPr sz="1200" b="1">
                <a:solidFill>
                  <a:srgbClr val="34D186"/>
                </a:solidFill>
                <a:latin typeface="Arial"/>
              </a:rPr>
              <a:t>~670 замовлень/міс</a:t>
            </a:r>
            <a:r>
              <a:rPr sz="1200" b="0">
                <a:solidFill>
                  <a:srgbClr val="6B7080"/>
                </a:solidFill>
                <a:latin typeface="Arial"/>
              </a:rPr>
              <a:t> на 12-й місяць · рік 1 разом </a:t>
            </a:r>
            <a:r>
              <a:rPr sz="1200" b="1">
                <a:solidFill>
                  <a:srgbClr val="2F313F"/>
                </a:solidFill>
                <a:latin typeface="Arial"/>
              </a:rPr>
              <a:t>5 329 замовлень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B7080"/>
                </a:solidFill>
                <a:latin typeface="Arial"/>
              </a:rPr>
              <a:t>Базова частка 12% обсягу Glovo (бенчмарк ритейл-мереж на Bolt). Прогноз модельний.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АМБІЦІЯ · GMV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GMV-потенціал, AOV €15</a:t>
            </a:r>
          </a:p>
        </p:txBody>
      </p:sp>
      <p:pic>
        <p:nvPicPr>
          <p:cNvPr id="5" name="Picture 4" descr="gm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7680960" cy="30907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080"/>
                </a:solidFill>
                <a:latin typeface="Arial"/>
              </a:rPr>
              <a:t>Рік 1: </a:t>
            </a:r>
            <a:r>
              <a:rPr sz="1300" b="1">
                <a:solidFill>
                  <a:srgbClr val="34D186"/>
                </a:solidFill>
                <a:latin typeface="Arial"/>
              </a:rPr>
              <a:t>€79 935</a:t>
            </a:r>
            <a:r>
              <a:rPr sz="1200" b="0">
                <a:solidFill>
                  <a:srgbClr val="6B7080"/>
                </a:solidFill>
                <a:latin typeface="Arial"/>
              </a:rPr>
              <a:t>  ·  річний run-rate на 12-й міс: </a:t>
            </a:r>
            <a:r>
              <a:rPr sz="1300" b="1">
                <a:solidFill>
                  <a:srgbClr val="2F313F"/>
                </a:solidFill>
                <a:latin typeface="Arial"/>
              </a:rPr>
              <a:t>€120 960/рік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B7080"/>
                </a:solidFill>
                <a:latin typeface="Arial"/>
              </a:rPr>
              <a:t>GMV = замовлення × €15 AOV. Базовий сценарій.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СЦЕНАРІЇ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Три рівні амбіції — рік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14600" cy="219456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313F"/>
                </a:solidFill>
                <a:latin typeface="Arial"/>
              </a:rPr>
              <a:t>Консервативний</a:t>
            </a:r>
          </a:p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8% обсягу Glovo</a:t>
            </a:r>
          </a:p>
          <a:p>
            <a:pPr algn="ctr"/>
            <a:r>
              <a:rPr sz="2600" b="1">
                <a:solidFill>
                  <a:srgbClr val="34D186"/>
                </a:solidFill>
                <a:latin typeface="Arial"/>
              </a:rPr>
              <a:t>€53 310</a:t>
            </a:r>
          </a:p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GMV рік 1</a:t>
            </a:r>
          </a:p>
          <a:p>
            <a:pPr algn="ctr"/>
            <a:r>
              <a:rPr sz="1200" b="1">
                <a:solidFill>
                  <a:srgbClr val="2F313F"/>
                </a:solidFill>
                <a:latin typeface="Arial"/>
              </a:rPr>
              <a:t>3 554 замовлень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828800"/>
            <a:ext cx="2514600" cy="219456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01168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Базовий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12% обсягу Glovo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€79 935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GMV рік 1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5 329 замовлень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2514600" cy="219456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01168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313F"/>
                </a:solidFill>
                <a:latin typeface="Arial"/>
              </a:rPr>
              <a:t>Амбітний</a:t>
            </a:r>
          </a:p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18% обсягу Glovo</a:t>
            </a:r>
          </a:p>
          <a:p>
            <a:pPr algn="ctr"/>
            <a:r>
              <a:rPr sz="2600" b="1">
                <a:solidFill>
                  <a:srgbClr val="34D186"/>
                </a:solidFill>
                <a:latin typeface="Arial"/>
              </a:rPr>
              <a:t>€119 925</a:t>
            </a:r>
          </a:p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GMV рік 1</a:t>
            </a:r>
          </a:p>
          <a:p>
            <a:pPr algn="ctr"/>
            <a:r>
              <a:rPr sz="1200" b="1">
                <a:solidFill>
                  <a:srgbClr val="2F313F"/>
                </a:solidFill>
                <a:latin typeface="Arial"/>
              </a:rPr>
              <a:t>7 995 замовлень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B7080"/>
                </a:solidFill>
                <a:latin typeface="Arial"/>
              </a:rPr>
              <a:t>AOV €15. Базовий сценарій — рекомендований.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ПРОМО · ЯК РОЗГАНЯЄМО ЗАМОВЛЕННЯ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Промо-інструменти Bolt Food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883664" cy="141732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1792224"/>
            <a:ext cx="365760" cy="36576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81051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212848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F313F"/>
                </a:solidFill>
                <a:latin typeface="Arial"/>
              </a:rPr>
              <a:t>Знижка на доставку</a:t>
            </a:r>
          </a:p>
          <a:p>
            <a:r>
              <a:rPr sz="1000" b="0">
                <a:solidFill>
                  <a:srgbClr val="6B7080"/>
                </a:solidFill>
                <a:latin typeface="Arial"/>
              </a:rPr>
              <a:t>Частково або 0 ₴. №1 інструмент для залучення нових клієнтів.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6896" y="1645920"/>
            <a:ext cx="1883664" cy="141732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792224"/>
            <a:ext cx="365760" cy="36576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81051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2212848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F313F"/>
                </a:solidFill>
                <a:latin typeface="Arial"/>
              </a:rPr>
              <a:t>Знижки на меню</a:t>
            </a:r>
          </a:p>
          <a:p>
            <a:r>
              <a:rPr sz="1000" b="0">
                <a:solidFill>
                  <a:srgbClr val="6B7080"/>
                </a:solidFill>
                <a:latin typeface="Arial"/>
              </a:rPr>
              <a:t>На окремі позиції або весь асортимент — через API або від Bolt.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5152" y="1645920"/>
            <a:ext cx="1883664" cy="141732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1792224"/>
            <a:ext cx="365760" cy="36576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181051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212848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F313F"/>
                </a:solidFill>
                <a:latin typeface="Arial"/>
              </a:rPr>
              <a:t>Когорти</a:t>
            </a:r>
          </a:p>
          <a:p>
            <a:r>
              <a:rPr sz="1000" b="0">
                <a:solidFill>
                  <a:srgbClr val="6B7080"/>
                </a:solidFill>
                <a:latin typeface="Arial"/>
              </a:rPr>
              <a:t>Таргет на Нових / Втрачених / Активних — різний розмір знижки.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3408" y="1645920"/>
            <a:ext cx="1883664" cy="141732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39712" y="1792224"/>
            <a:ext cx="365760" cy="365760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181051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2212848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F313F"/>
                </a:solidFill>
                <a:latin typeface="Arial"/>
              </a:rPr>
              <a:t>Банерна підтримка</a:t>
            </a:r>
          </a:p>
          <a:p>
            <a:r>
              <a:rPr sz="1000" b="0">
                <a:solidFill>
                  <a:srgbClr val="6B7080"/>
                </a:solidFill>
                <a:latin typeface="Arial"/>
              </a:rPr>
              <a:t>Банер у вкладці «Магазини» в періоди активних акцій.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46120"/>
            <a:ext cx="3886200" cy="105156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246120"/>
            <a:ext cx="82296" cy="105156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383280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F313F"/>
                </a:solidFill>
                <a:latin typeface="Arial"/>
              </a:rPr>
              <a:t>Рекомендований старт</a:t>
            </a:r>
          </a:p>
          <a:p>
            <a:r>
              <a:rPr sz="1050" b="0">
                <a:solidFill>
                  <a:srgbClr val="6B7080"/>
                </a:solidFill>
                <a:latin typeface="Arial"/>
              </a:rPr>
              <a:t>Безкоштовна доставка для нових клієнтів + MOV трохи вищий за середній чек.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3246120"/>
            <a:ext cx="3886200" cy="1051560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9160" y="3246120"/>
            <a:ext cx="82296" cy="1051560"/>
          </a:xfrm>
          <a:prstGeom prst="rect">
            <a:avLst/>
          </a:prstGeom>
          <a:solidFill>
            <a:srgbClr val="2F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383280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F313F"/>
                </a:solidFill>
                <a:latin typeface="Arial"/>
              </a:rPr>
              <a:t>Оподаткування (ПДВ)</a:t>
            </a:r>
          </a:p>
          <a:p>
            <a:r>
              <a:rPr sz="1050" b="0">
                <a:solidFill>
                  <a:srgbClr val="6B7080"/>
                </a:solidFill>
                <a:latin typeface="Arial"/>
              </a:rPr>
              <a:t>Знижки через Bolt → +20% ПДВ. Через API (зміна цін партнером) → без ПДВ.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B7080"/>
                </a:solidFill>
                <a:latin typeface="Arial"/>
              </a:rPr>
              <a:t>Джерело: гайд «Промо-активності на Bolt Food» для партнерів (Україна)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2608"/>
            <a:ext cx="1280160" cy="5088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57200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186"/>
                </a:solidFill>
                <a:latin typeface="Arial"/>
              </a:rPr>
              <a:t>ЗАПУСК</a:t>
            </a:r>
          </a:p>
          <a:p>
            <a:r>
              <a:rPr sz="2700" b="1">
                <a:solidFill>
                  <a:srgbClr val="2F313F"/>
                </a:solidFill>
                <a:latin typeface="Arial"/>
              </a:rPr>
              <a:t>З чого починаємо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13F"/>
                </a:solidFill>
                <a:latin typeface="Arial"/>
              </a:rPr>
              <a:t>Топ-міста для старту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3840480" cy="384048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7685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F313F"/>
                </a:solidFill>
                <a:latin typeface="Arial"/>
              </a:rPr>
              <a:t>Київ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27685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34D186"/>
                </a:solidFill>
                <a:latin typeface="Arial"/>
              </a:rPr>
              <a:t>41%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3840480" cy="384048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73405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F313F"/>
                </a:solidFill>
                <a:latin typeface="Arial"/>
              </a:rPr>
              <a:t>Львів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3405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34D186"/>
                </a:solidFill>
                <a:latin typeface="Arial"/>
              </a:rPr>
              <a:t>13%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54680"/>
            <a:ext cx="3840480" cy="384048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19125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F313F"/>
                </a:solidFill>
                <a:latin typeface="Arial"/>
              </a:rPr>
              <a:t>Одеса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9125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34D186"/>
                </a:solidFill>
                <a:latin typeface="Arial"/>
              </a:rPr>
              <a:t>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3840480" cy="384048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64845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F313F"/>
                </a:solidFill>
                <a:latin typeface="Arial"/>
              </a:rPr>
              <a:t>Дніпро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4845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34D186"/>
                </a:solidFill>
                <a:latin typeface="Arial"/>
              </a:rPr>
              <a:t>4%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69080"/>
            <a:ext cx="3840480" cy="384048"/>
          </a:xfrm>
          <a:prstGeom prst="round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10565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F313F"/>
                </a:solidFill>
                <a:latin typeface="Arial"/>
              </a:rPr>
              <a:t>Івано-Франківськ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10565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34D186"/>
                </a:solidFill>
                <a:latin typeface="Arial"/>
              </a:rPr>
              <a:t>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783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13F"/>
                </a:solidFill>
                <a:latin typeface="Arial"/>
              </a:rPr>
              <a:t>Наступні кроки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2240280"/>
            <a:ext cx="292608" cy="292608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2219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2037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F313F"/>
                </a:solidFill>
                <a:latin typeface="Arial"/>
              </a:rPr>
              <a:t>Підтвердити інтерес і scope пілоту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2697480"/>
            <a:ext cx="292608" cy="292608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26791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6609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F313F"/>
                </a:solidFill>
                <a:latin typeface="Arial"/>
              </a:rPr>
              <a:t>Інтеграція каталогу та цін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154680"/>
            <a:ext cx="292608" cy="292608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31363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31181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F313F"/>
                </a:solidFill>
                <a:latin typeface="Arial"/>
              </a:rPr>
              <a:t>Запуск у топ-3 містах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3611880"/>
            <a:ext cx="292608" cy="292608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35935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35753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F313F"/>
                </a:solidFill>
                <a:latin typeface="Arial"/>
              </a:rPr>
              <a:t>Спільний маркетинг на старті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4069080"/>
            <a:ext cx="292608" cy="292608"/>
          </a:xfrm>
          <a:prstGeom prst="round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40507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40325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F313F"/>
                </a:solidFill>
                <a:latin typeface="Arial"/>
              </a:rPr>
              <a:t>Огляд результатів через 4 тижні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lt_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1828800" cy="7268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2024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Готові запустити Master Zoo на Bolt Food</a:t>
            </a:r>
          </a:p>
          <a:p>
            <a:r>
              <a:rPr sz="1600" b="1">
                <a:solidFill>
                  <a:srgbClr val="34D186"/>
                </a:solidFill>
                <a:latin typeface="Arial"/>
              </a:rPr>
              <a:t>Рік 1: ~5 329 замовлень  ·  €79 935 GMV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AA0AC"/>
                </a:solidFill>
                <a:latin typeface="Arial"/>
              </a:rPr>
              <a:t>Дякуємо! Обговоримо деталі пілоту.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