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011680" cy="7995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34D186"/>
                </a:solidFill>
                <a:latin typeface="Arial"/>
              </a:rPr>
              <a:t>Partnership proposal</a:t>
            </a:r>
          </a:p>
          <a:p>
            <a:r>
              <a:rPr sz="4000" b="1">
                <a:solidFill>
                  <a:srgbClr val="FFFFFF"/>
                </a:solidFill>
                <a:latin typeface="Arial"/>
              </a:rPr>
              <a:t>Master Zoo × Bolt Food</a:t>
            </a:r>
          </a:p>
          <a:p>
            <a:r>
              <a:rPr sz="1800" b="0">
                <a:solidFill>
                  <a:srgbClr val="C9CED6"/>
                </a:solidFill>
                <a:latin typeface="Arial"/>
              </a:rPr>
              <a:t>Де ми зараз і куди ростемо разом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AC"/>
                </a:solidFill>
                <a:latin typeface="Arial"/>
              </a:rPr>
              <a:t>Перша зустріч · Україна · Червень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AGENDA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Про що говоримо сьогодні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37943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74650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Bolt Food та екосистема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масштаб і динаміка росту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04872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5973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68296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Де Master Zoo зараз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ваша позиція на ринку доставки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26664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8152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90088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Чому Bolt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інкрементальний попит, Bolt Plus, маркетинг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48456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03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1188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Амбіція: замовлення та GMV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помісячний план на 12 міс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70248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3251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33672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Наступні кроки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як швидко стартуємо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BOLT TODAY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Bolt — у цифрах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50+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країн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7712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850+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міст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86783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6511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4 млн+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замовлень/день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05855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15583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€12 млрд+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GMV run-rate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34655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30%+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GMV CAGR 2021–25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080"/>
                </a:solidFill>
                <a:latin typeface="Arial"/>
              </a:rPr>
              <a:t>Один застосунок: доставка їжі та товарів, таксі, оренда — мільйони активних клієнтів в Україні.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MEET BOLT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Вся on-demand екосистема в одному застосунку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06040" cy="16916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2606040" cy="45720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8527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Таксі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40+ країн</a:t>
            </a:r>
          </a:p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500+ міст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874519"/>
            <a:ext cx="2606040" cy="16916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3280" y="1874519"/>
            <a:ext cx="2606040" cy="45720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938527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Доставка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15+ країн</a:t>
            </a:r>
          </a:p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200+ міст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74519"/>
            <a:ext cx="2606040" cy="16916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874519"/>
            <a:ext cx="2606040" cy="45720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38527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Оренда / самокати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20+ країн</a:t>
            </a:r>
          </a:p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200+ міст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947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080"/>
                </a:solidFill>
                <a:latin typeface="Arial"/>
              </a:rPr>
              <a:t>Крос-вертикальний ефект: користувачів таксі та Food ми конвертуємо у покупців ваших товарів.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ДЕ ВИ ЗАРАЗ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Master Zoo на ринку доставки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5 513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замовлень/міс на Glovo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157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29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міст присутності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#16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ритейл-бренд на Glovo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05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0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 на Bolt Food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Висновок: </a:t>
            </a:r>
            <a:r>
              <a:rPr sz="1300" b="0">
                <a:solidFill>
                  <a:srgbClr val="6B7080"/>
                </a:solidFill>
                <a:latin typeface="Arial"/>
              </a:rPr>
              <a:t>сильний, стабільний попит на доставку зоотоварів — але </a:t>
            </a:r>
            <a:r>
              <a:rPr sz="1300" b="1">
                <a:solidFill>
                  <a:srgbClr val="34D186"/>
                </a:solidFill>
                <a:latin typeface="Arial"/>
              </a:rPr>
              <a:t>повністю поза Bolt Food</a:t>
            </a:r>
            <a:r>
              <a:rPr sz="1300" b="0">
                <a:solidFill>
                  <a:srgbClr val="6B7080"/>
                </a:solidFill>
                <a:latin typeface="Arial"/>
              </a:rPr>
              <a:t>. Це чистий новий канал продажів без канібалізації.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Bolt internal data (Databricks) + Get Placed market scan, Jan–Apr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МОЖЛИВІСТЬ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Чому зараз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Незайнятий канал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Master Zoo = 0 на Bolt Food. Кожне замовлення — інкрементальне, поверх Glovo.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Bolt Food росте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Замовлення на платформі ростуть двозначними темпами кв/кв в Україні.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Pets — недопредставлені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Зоотовари майже відсутні в food-delivery. Низька конкуренція, висока лояльність.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Швидкий старт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Інтеграція меню/каталогу й запуск у топ-містах за кілька тижнів.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ЧОМУ ЗАРАЗ · BOLT FOOD РОСТЕ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Замовлення ростуть двозначними темпами кв/кв</a:t>
            </a:r>
          </a:p>
        </p:txBody>
      </p:sp>
      <p:pic>
        <p:nvPicPr>
          <p:cNvPr id="5" name="Picture 4" descr="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7680960" cy="3090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080"/>
                </a:solidFill>
                <a:latin typeface="Arial"/>
              </a:rPr>
              <a:t>3P-магазини </a:t>
            </a:r>
            <a:r>
              <a:rPr sz="1200" b="1">
                <a:solidFill>
                  <a:srgbClr val="34D186"/>
                </a:solidFill>
                <a:latin typeface="Arial"/>
              </a:rPr>
              <a:t>2 401 → 6 429 (+168%)</a:t>
            </a:r>
            <a:r>
              <a:rPr sz="1200" b="0">
                <a:solidFill>
                  <a:srgbClr val="6B7080"/>
                </a:solidFill>
                <a:latin typeface="Arial"/>
              </a:rPr>
              <a:t>  ·  замовлення </a:t>
            </a:r>
            <a:r>
              <a:rPr sz="1200" b="1">
                <a:solidFill>
                  <a:srgbClr val="2F313F"/>
                </a:solidFill>
                <a:latin typeface="Arial"/>
              </a:rPr>
              <a:t>78k → 154k (×2)</a:t>
            </a:r>
            <a:r>
              <a:rPr sz="1200" b="0">
                <a:solidFill>
                  <a:srgbClr val="6B7080"/>
                </a:solidFill>
                <a:latin typeface="Arial"/>
              </a:rPr>
              <a:t>  за Jan→Apr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Базуючись на ринкових даних (Get Placed market scan), Jan–Apr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ЧОМУ BOLT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Новий канал росту — без ризику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025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40% — нові клієнти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У середньому 40% замовлень магазину — від клієнтів, які вперше замовляють саме у вас. Чистий інкрементальний попит.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20025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Крос-вертикальний попит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Аудиторію таксі та Bolt Food конвертуємо у покупців ваших товарів — нові цифрові клієнти поза вашою офлайн-базою.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3741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Модель на комісії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Без цінових війн, демпінгу й витрат на експансію магазинів. Маркетинг-подібна інвестиція з високим ROI.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2" y="33741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Орієнтир економіки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≈16 замовлень/магазин/день, частота ~2× на місяць — і зростає з підпискою та промо.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Bolt market materials (MWB Sales Pitch).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BOLT PLUS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Преміум-аудиторія, що замовляє частіше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514600" cy="132588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11095"/>
            <a:ext cx="229514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2.1–2.2×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частіше замовляють підписники Bolt+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783080"/>
            <a:ext cx="2514600" cy="132588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55848" y="1911095"/>
            <a:ext cx="229514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+12–17%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замовлень/міс після оформлення підписки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783080"/>
            <a:ext cx="2651760" cy="132588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53328" y="1911095"/>
            <a:ext cx="243230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3 сервіси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таксі · Bolt Food · самокати в одній підписці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7560"/>
            <a:ext cx="7863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4"/>
              </a:spcAft>
            </a:pPr>
            <a:r>
              <a:rPr sz="1200" b="1">
                <a:solidFill>
                  <a:srgbClr val="34D186"/>
                </a:solidFill>
                <a:latin typeface="Arial"/>
              </a:rPr>
              <a:t>•  </a:t>
            </a:r>
            <a:r>
              <a:rPr sz="1200" b="1">
                <a:solidFill>
                  <a:srgbClr val="2F313F"/>
                </a:solidFill>
                <a:latin typeface="Arial"/>
              </a:rPr>
              <a:t>Доступ до преміум-клієнтів —</a:t>
            </a:r>
            <a:r>
              <a:rPr sz="1200" b="0">
                <a:solidFill>
                  <a:srgbClr val="6B7080"/>
                </a:solidFill>
                <a:latin typeface="Arial"/>
              </a:rPr>
              <a:t> найактивніші користувачі з високим середнім чеком.</a:t>
            </a:r>
          </a:p>
          <a:p>
            <a:pPr>
              <a:spcAft>
                <a:spcPts val="504"/>
              </a:spcAft>
            </a:pPr>
            <a:r>
              <a:rPr sz="1200" b="1">
                <a:solidFill>
                  <a:srgbClr val="34D186"/>
                </a:solidFill>
                <a:latin typeface="Arial"/>
              </a:rPr>
              <a:t>•  </a:t>
            </a:r>
            <a:r>
              <a:rPr sz="1200" b="1">
                <a:solidFill>
                  <a:srgbClr val="2F313F"/>
                </a:solidFill>
                <a:latin typeface="Arial"/>
              </a:rPr>
              <a:t>Більше видимості —</a:t>
            </a:r>
            <a:r>
              <a:rPr sz="1200" b="0">
                <a:solidFill>
                  <a:srgbClr val="6B7080"/>
                </a:solidFill>
                <a:latin typeface="Arial"/>
              </a:rPr>
              <a:t> окрема категорія на головному екрані, банер і бейдж Bolt Plus.</a:t>
            </a:r>
          </a:p>
          <a:p>
            <a:pPr>
              <a:spcAft>
                <a:spcPts val="504"/>
              </a:spcAft>
            </a:pPr>
            <a:r>
              <a:rPr sz="1200" b="1">
                <a:solidFill>
                  <a:srgbClr val="34D186"/>
                </a:solidFill>
                <a:latin typeface="Arial"/>
              </a:rPr>
              <a:t>•  </a:t>
            </a:r>
            <a:r>
              <a:rPr sz="1200" b="1">
                <a:solidFill>
                  <a:srgbClr val="2F313F"/>
                </a:solidFill>
                <a:latin typeface="Arial"/>
              </a:rPr>
              <a:t>Комісія Bolt Plus —</a:t>
            </a:r>
            <a:r>
              <a:rPr sz="1200" b="0">
                <a:solidFill>
                  <a:srgbClr val="6B7080"/>
                </a:solidFill>
                <a:latin typeface="Arial"/>
              </a:rPr>
              <a:t> лише на замовлення підписників; для решти — стандартна комісія.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презентація «Підписка Bolt+» (UA) + внутрішнє моделювання Bolt. dbx: частка замовлень Bolt+ зростає.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ОРІЄНТОВНІ УМОВИ · BOLT+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Середньозважена комісія та цінність Bolt+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931920" cy="1874519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931920" cy="91440"/>
          </a:xfrm>
          <a:prstGeom prst="rect">
            <a:avLst/>
          </a:prstGeom>
          <a:solidFill>
            <a:srgbClr val="6B7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3520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Сценарій 1 — рекомендований</a:t>
            </a:r>
          </a:p>
          <a:p>
            <a:r>
              <a:rPr sz="950" b="0">
                <a:solidFill>
                  <a:srgbClr val="6B7080"/>
                </a:solidFill>
                <a:latin typeface="Arial"/>
              </a:rPr>
              <a:t>база 10% · передаєте ціни зі знижками</a:t>
            </a:r>
          </a:p>
          <a:p>
            <a:r>
              <a:rPr sz="2600" b="1">
                <a:solidFill>
                  <a:srgbClr val="2F313F"/>
                </a:solidFill>
                <a:latin typeface="Arial"/>
              </a:rPr>
              <a:t>10,3%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середньозважена</a:t>
            </a:r>
          </a:p>
          <a:p>
            <a:r>
              <a:rPr sz="1100" b="0">
                <a:solidFill>
                  <a:srgbClr val="6B7080"/>
                </a:solidFill>
                <a:latin typeface="Arial"/>
              </a:rPr>
              <a:t>комісія ≈ 1,18 млн ₴ / 6 міс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28800"/>
            <a:ext cx="3931920" cy="1874519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975104"/>
            <a:ext cx="3520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Сценарій 2 — без передачі знижок</a:t>
            </a:r>
          </a:p>
          <a:p>
            <a:r>
              <a:rPr sz="950" b="0">
                <a:solidFill>
                  <a:srgbClr val="EAFFF4"/>
                </a:solidFill>
                <a:latin typeface="Arial"/>
              </a:rPr>
              <a:t>база 12% · ціни без урахування знижок</a:t>
            </a:r>
          </a:p>
          <a:p>
            <a:r>
              <a:rPr sz="2600" b="1">
                <a:solidFill>
                  <a:srgbClr val="FFFFFF"/>
                </a:solidFill>
                <a:latin typeface="Arial"/>
              </a:rPr>
              <a:t>12,3%</a:t>
            </a:r>
          </a:p>
          <a:p>
            <a:r>
              <a:rPr sz="1050" b="0">
                <a:solidFill>
                  <a:srgbClr val="EAFFF4"/>
                </a:solidFill>
                <a:latin typeface="Arial"/>
              </a:rPr>
              <a:t>середньозважена</a:t>
            </a:r>
          </a:p>
          <a:p>
            <a:r>
              <a:rPr sz="1100" b="0">
                <a:solidFill>
                  <a:srgbClr val="FFFFFF"/>
                </a:solidFill>
                <a:latin typeface="Arial"/>
              </a:rPr>
              <a:t>комісія ≈ 1,41 млн ₴ / 6 міс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86200"/>
            <a:ext cx="8046720" cy="566928"/>
          </a:xfrm>
          <a:prstGeom prst="round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41063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Без Bolt+ оборот −10% (−1,15 млн ₴) → чистими −~1 млн ₴ · кожна 1 ₴ комісії → ~7 ₴ обороту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GMV 11,5 млн ₴ (з Bolt+) · частка Bolt+ 15% × +2% = +0,3 п.п. · +2% лише на замовлення підписників.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ДОСВІД КОРИСТУВАЧА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Bolt інвестує в Consumer Experience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Персоналізований контент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Рекомендації на основі історії та вподобань користувача.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Зручний пошук і фільтри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Швидка навігація, що показує більше релевантних товарів.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Прості точки входу в магазини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High-intent вкладки внизу екрану ведуть у ваш магазин.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Bolt Plus для утримання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Переваги підписки підвищують частоту та повернення клієнтів.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МАРКЕТИНГОВА ПІДТРИМКА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Маркетинг і реклама, що ростять продажі магазину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212140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Bolt Plus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47872" y="212140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In-app engagement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82512" y="212140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Merchant Offers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8036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3232" y="308152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30449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Online Ads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288036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47872" y="308152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69080" y="30449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PR / Social Media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88036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82512" y="308152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0449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Email + 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080"/>
                </a:solidFill>
                <a:latin typeface="Arial"/>
              </a:rPr>
              <a:t>Комбінація каналів Bolt Food + Bolt Rides дає охоплення, недоступне поодинці.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КАМПАНІЇ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Маркетингові кампанії: до 10× охоплення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0604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F313F"/>
                </a:solidFill>
                <a:latin typeface="Arial"/>
              </a:rPr>
              <a:t>Standard</a:t>
            </a:r>
          </a:p>
          <a:p>
            <a:pPr algn="ctr"/>
            <a:r>
              <a:rPr sz="2400" b="1">
                <a:solidFill>
                  <a:srgbClr val="34D186"/>
                </a:solidFill>
                <a:latin typeface="Arial"/>
              </a:rPr>
              <a:t>1× охоплення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Email + push Bolt Food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874519"/>
            <a:ext cx="260604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1031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F313F"/>
                </a:solidFill>
                <a:latin typeface="Arial"/>
              </a:rPr>
              <a:t>Small</a:t>
            </a:r>
          </a:p>
          <a:p>
            <a:pPr algn="ctr"/>
            <a:r>
              <a:rPr sz="2400" b="1">
                <a:solidFill>
                  <a:srgbClr val="34D186"/>
                </a:solidFill>
                <a:latin typeface="Arial"/>
              </a:rPr>
              <a:t>2× охоплення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+ In-app банер, email/push Food &amp; Rides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2606040" cy="21945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Big</a:t>
            </a:r>
          </a:p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10× охоплення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+ Спец-категорія, pop-up, соцмережі, paid ads, інфлюенсери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IN-STORE BRANDING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Підтримка офлайн-брендингу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7863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4"/>
              </a:spcAft>
            </a:pPr>
            <a:r>
              <a:rPr sz="1300" b="1">
                <a:solidFill>
                  <a:srgbClr val="34D186"/>
                </a:solidFill>
                <a:latin typeface="Arial"/>
              </a:rPr>
              <a:t>•  </a:t>
            </a:r>
            <a:r>
              <a:rPr sz="1300" b="1">
                <a:solidFill>
                  <a:srgbClr val="2F313F"/>
                </a:solidFill>
                <a:latin typeface="Arial"/>
              </a:rPr>
              <a:t>Брендинг у точках —</a:t>
            </a:r>
            <a:r>
              <a:rPr sz="1300" b="0">
                <a:solidFill>
                  <a:srgbClr val="6B7080"/>
                </a:solidFill>
                <a:latin typeface="Arial"/>
              </a:rPr>
              <a:t> Bolt підтримує оформлення та видимість бренду на місцях продажу.</a:t>
            </a:r>
          </a:p>
          <a:p>
            <a:pPr>
              <a:spcAft>
                <a:spcPts val="504"/>
              </a:spcAft>
            </a:pPr>
            <a:r>
              <a:rPr sz="1300" b="1">
                <a:solidFill>
                  <a:srgbClr val="34D186"/>
                </a:solidFill>
                <a:latin typeface="Arial"/>
              </a:rPr>
              <a:t>•  </a:t>
            </a:r>
            <a:r>
              <a:rPr sz="1300" b="1">
                <a:solidFill>
                  <a:srgbClr val="2F313F"/>
                </a:solidFill>
                <a:latin typeface="Arial"/>
              </a:rPr>
              <a:t>Зв'язок онлайн ↔ офлайн —</a:t>
            </a:r>
            <a:r>
              <a:rPr sz="1300" b="0">
                <a:solidFill>
                  <a:srgbClr val="6B7080"/>
                </a:solidFill>
                <a:latin typeface="Arial"/>
              </a:rPr>
              <a:t> офлайн-аудиторія дізнається про вашу присутність на Bolt Food.</a:t>
            </a:r>
          </a:p>
          <a:p>
            <a:pPr>
              <a:spcAft>
                <a:spcPts val="504"/>
              </a:spcAft>
            </a:pPr>
            <a:r>
              <a:rPr sz="1300" b="1">
                <a:solidFill>
                  <a:srgbClr val="34D186"/>
                </a:solidFill>
                <a:latin typeface="Arial"/>
              </a:rPr>
              <a:t>•  </a:t>
            </a:r>
            <a:r>
              <a:rPr sz="1300" b="1">
                <a:solidFill>
                  <a:srgbClr val="2F313F"/>
                </a:solidFill>
                <a:latin typeface="Arial"/>
              </a:rPr>
              <a:t>Спільні матеріали —</a:t>
            </a:r>
            <a:r>
              <a:rPr sz="1300" b="0">
                <a:solidFill>
                  <a:srgbClr val="6B7080"/>
                </a:solidFill>
                <a:latin typeface="Arial"/>
              </a:rPr>
              <a:t> банери, наліпки, POS-матеріали для промо-періодів.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КАЛЕНДАР 2026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Кампанії H1 — план активностей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80467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225040"/>
                <a:gridCol w="2225040"/>
                <a:gridCol w="2225040"/>
              </a:tblGrid>
              <a:tr h="37882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Місяць</a:t>
                      </a:r>
                    </a:p>
                  </a:txBody>
                  <a:tcPr>
                    <a:solidFill>
                      <a:srgbClr val="2F3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Кампанія 1</a:t>
                      </a:r>
                    </a:p>
                  </a:txBody>
                  <a:tcPr>
                    <a:solidFill>
                      <a:srgbClr val="2F3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Кампанія 2</a:t>
                      </a:r>
                    </a:p>
                  </a:txBody>
                  <a:tcPr>
                    <a:solidFill>
                      <a:srgbClr val="2F3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Кампанія 3</a:t>
                      </a:r>
                    </a:p>
                  </a:txBody>
                  <a:tcPr>
                    <a:solidFill>
                      <a:srgbClr val="2F313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Січень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Новий рік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New Year, Same Favourites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Лютий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День Св. Валентина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Березень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8 березня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EF6F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Квітень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Великдень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Травень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День матері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Eurovision Watch Party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Червень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FIFA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Орієнтовний календар Bolt Food. Підлаштовуємо під пет-сезони Master Zoo.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АМБІЦІЯ · ЗАМОВЛЕННЯ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Помісячний план на 12 місяців</a:t>
            </a:r>
          </a:p>
        </p:txBody>
      </p:sp>
      <p:pic>
        <p:nvPicPr>
          <p:cNvPr id="5" name="Picture 4" descr="or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7680960" cy="3090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080"/>
                </a:solidFill>
                <a:latin typeface="Arial"/>
              </a:rPr>
              <a:t>Старт ~80 → </a:t>
            </a:r>
            <a:r>
              <a:rPr sz="1200" b="1">
                <a:solidFill>
                  <a:srgbClr val="34D186"/>
                </a:solidFill>
                <a:latin typeface="Arial"/>
              </a:rPr>
              <a:t>~670 замовлень/міс</a:t>
            </a:r>
            <a:r>
              <a:rPr sz="1200" b="0">
                <a:solidFill>
                  <a:srgbClr val="6B7080"/>
                </a:solidFill>
                <a:latin typeface="Arial"/>
              </a:rPr>
              <a:t> на 12-й місяць · рік 1 разом </a:t>
            </a:r>
            <a:r>
              <a:rPr sz="1200" b="1">
                <a:solidFill>
                  <a:srgbClr val="2F313F"/>
                </a:solidFill>
                <a:latin typeface="Arial"/>
              </a:rPr>
              <a:t>5 329 замовлень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Базова частка 12% обсягу Glovo (бенчмарк ритейл-мереж на Bolt). Прогноз модельний.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АМБІЦІЯ · GMV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GMV-потенціал, AOV €15</a:t>
            </a:r>
          </a:p>
        </p:txBody>
      </p:sp>
      <p:pic>
        <p:nvPicPr>
          <p:cNvPr id="5" name="Picture 4" descr="gm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71600"/>
            <a:ext cx="7680960" cy="3090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080"/>
                </a:solidFill>
                <a:latin typeface="Arial"/>
              </a:rPr>
              <a:t>Рік 1: </a:t>
            </a:r>
            <a:r>
              <a:rPr sz="1300" b="1">
                <a:solidFill>
                  <a:srgbClr val="34D186"/>
                </a:solidFill>
                <a:latin typeface="Arial"/>
              </a:rPr>
              <a:t>€79 935</a:t>
            </a:r>
            <a:r>
              <a:rPr sz="1200" b="0">
                <a:solidFill>
                  <a:srgbClr val="6B7080"/>
                </a:solidFill>
                <a:latin typeface="Arial"/>
              </a:rPr>
              <a:t>  ·  річний run-rate на 12-й міс: </a:t>
            </a:r>
            <a:r>
              <a:rPr sz="1300" b="1">
                <a:solidFill>
                  <a:srgbClr val="2F313F"/>
                </a:solidFill>
                <a:latin typeface="Arial"/>
              </a:rPr>
              <a:t>€120 960/рік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GMV = замовлення × €15 AOV. Базовий сценарій.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СЦЕНАРІЇ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Три рівні амбіції — рік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1460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1488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F313F"/>
                </a:solidFill>
                <a:latin typeface="Arial"/>
              </a:rPr>
              <a:t>Консервативний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8% обсягу Glovo</a:t>
            </a:r>
          </a:p>
          <a:p>
            <a:pPr algn="ctr"/>
            <a:r>
              <a:rPr sz="2600" b="1">
                <a:solidFill>
                  <a:srgbClr val="34D186"/>
                </a:solidFill>
                <a:latin typeface="Arial"/>
              </a:rPr>
              <a:t>€53 310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GMV рік 1</a:t>
            </a:r>
          </a:p>
          <a:p>
            <a:pPr algn="ctr"/>
            <a:r>
              <a:rPr sz="1200" b="1">
                <a:solidFill>
                  <a:srgbClr val="2F313F"/>
                </a:solidFill>
                <a:latin typeface="Arial"/>
              </a:rPr>
              <a:t>3 554 замовлень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828800"/>
            <a:ext cx="2514600" cy="21945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2011680"/>
            <a:ext cx="21488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Базовий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12% обсягу Glovo</a:t>
            </a:r>
          </a:p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€79 935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GMV рік 1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5 329 замовлень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828800"/>
            <a:ext cx="251460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11680"/>
            <a:ext cx="21488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F313F"/>
                </a:solidFill>
                <a:latin typeface="Arial"/>
              </a:rPr>
              <a:t>Амбітний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18% обсягу Glovo</a:t>
            </a:r>
          </a:p>
          <a:p>
            <a:pPr algn="ctr"/>
            <a:r>
              <a:rPr sz="2600" b="1">
                <a:solidFill>
                  <a:srgbClr val="34D186"/>
                </a:solidFill>
                <a:latin typeface="Arial"/>
              </a:rPr>
              <a:t>€119 925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GMV рік 1</a:t>
            </a:r>
          </a:p>
          <a:p>
            <a:pPr algn="ctr"/>
            <a:r>
              <a:rPr sz="1200" b="1">
                <a:solidFill>
                  <a:srgbClr val="2F313F"/>
                </a:solidFill>
                <a:latin typeface="Arial"/>
              </a:rPr>
              <a:t>7 995 замовлень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AOV €15. Базовий сценарій — рекомендований.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ПРОМО · ЯК РОЗГАНЯЄМО ЗАМОВЛЕННЯ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Промо-інструменти Bolt Food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94944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Знижка на доставку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Частково або 0 ₴. №1 інструмент для залучення нових клієнтів.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96896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0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4912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Знижки на меню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На окремі позиції або весь асортимент — через API або від Bolt.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5152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91456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91456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Когорти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Таргет на Нових / Втрачених / Активних — різний розмір знижки.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93408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39712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1424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Банерна підтримка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Банер у вкладці «Магазини» в періоди активних акцій.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246120"/>
            <a:ext cx="3886200" cy="1051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246120"/>
            <a:ext cx="82296" cy="105156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383280"/>
            <a:ext cx="3520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Рекомендований старт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Безкоштовна доставка для нових клієнтів + MOV трохи вищий за середній чек.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3246120"/>
            <a:ext cx="3886200" cy="1051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09160" y="3246120"/>
            <a:ext cx="82296" cy="1051560"/>
          </a:xfrm>
          <a:prstGeom prst="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0" y="3383280"/>
            <a:ext cx="3520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Оподаткування (ПДВ)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Знижки через Bolt → +20% ПДВ. Через API (зміна цін партнером) → без ПДВ.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гайд «Промо-активності на Bolt Food» для партнерів (Україна)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ЗАПУСК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З чого починаємо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Топ-міста для старту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2768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Київ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768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41%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7340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Львів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7340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13%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1912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Одеса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1912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6484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Дніпро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6484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4%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690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1056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Івано-Франківськ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1056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783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Наступні кроки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22402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22219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22037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Підтвердити інтерес і scope пілоту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26974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26791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6609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Інтеграція каталогу та цін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31546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31363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31181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Запуск у топ-3 містах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36118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35935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66360" y="35753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Спільний маркетинг на старті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40690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40507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40325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Огляд результатів через 4 тижні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1828800" cy="7268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2024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Готові запустити Master Zoo на Bolt Food</a:t>
            </a:r>
          </a:p>
          <a:p>
            <a:r>
              <a:rPr sz="1600" b="1">
                <a:solidFill>
                  <a:srgbClr val="34D186"/>
                </a:solidFill>
                <a:latin typeface="Arial"/>
              </a:rPr>
              <a:t>Рік 1: ~5 329 замовлень  ·  €79 935 GMV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AA0AC"/>
                </a:solidFill>
                <a:latin typeface="Arial"/>
              </a:rPr>
              <a:t>Дякуємо! Обговоримо деталі пілоту.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