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2011680" cy="79956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874519"/>
            <a:ext cx="8046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34D186"/>
                </a:solidFill>
                <a:latin typeface="Arial"/>
              </a:rPr>
              <a:t>Partnership proposal</a:t>
            </a:r>
          </a:p>
          <a:p>
            <a:r>
              <a:rPr sz="4000" b="1">
                <a:solidFill>
                  <a:srgbClr val="FFFFFF"/>
                </a:solidFill>
                <a:latin typeface="Arial"/>
              </a:rPr>
              <a:t>Master Zoo × Bolt Food</a:t>
            </a:r>
          </a:p>
          <a:p>
            <a:r>
              <a:rPr sz="1800" b="0">
                <a:solidFill>
                  <a:srgbClr val="C9CED6"/>
                </a:solidFill>
                <a:latin typeface="Arial"/>
              </a:rPr>
              <a:t>Де ми зараз і куди ростемо разом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3434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9AA0AC"/>
                </a:solidFill>
                <a:latin typeface="Arial"/>
              </a:rPr>
              <a:t>Перша зустріч · Україна · Червень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AGENDA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Про що говоримо сьогодні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783080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37943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746504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Хто такий Bolt Food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масштаб і екосистема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04872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459736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368296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Де Master Zoo зараз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ваша позиція на ринку доставки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3026664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81528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90088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Можливість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незайнятий канал продажів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648456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703320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11880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Амбіція: замовлення та GMV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помісячний план на 12 міс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4270248"/>
            <a:ext cx="502920" cy="5029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4325112"/>
            <a:ext cx="502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34D186"/>
                </a:solidFill>
                <a:latin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33672"/>
            <a:ext cx="6949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F313F"/>
                </a:solidFill>
                <a:latin typeface="Arial"/>
              </a:rPr>
              <a:t>Наступні кроки</a:t>
            </a:r>
          </a:p>
          <a:p>
            <a:r>
              <a:rPr sz="1200" b="0">
                <a:solidFill>
                  <a:srgbClr val="6B7080"/>
                </a:solidFill>
                <a:latin typeface="Arial"/>
              </a:rPr>
              <a:t>як швидко стартуємо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BOLT TODAY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Bolt — у цифрах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50+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країн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267712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377440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850+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міст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86783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96511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4 млн+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замовлень/день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05855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15583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€12 млрд+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GMV run-rate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24927" y="2011680"/>
            <a:ext cx="1554480" cy="12801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34655" y="2139696"/>
            <a:ext cx="1335024" cy="1024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30%+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GMV CAGR 2021–25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11880"/>
            <a:ext cx="8046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080"/>
                </a:solidFill>
                <a:latin typeface="Arial"/>
              </a:rPr>
              <a:t>Один застосунок: доставка їжі та товарів, таксі, оренда — мільйони активних клієнтів в Україні.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ДЕ ВИ ЗАРАЗ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Master Zoo на ринку доставки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5 513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замовлень/міс на Glovo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157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29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міст присутності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634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731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F313F"/>
                </a:solidFill>
                <a:latin typeface="Arial"/>
              </a:rPr>
              <a:t>#16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ритейл-бренд на Glovo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874519"/>
            <a:ext cx="1874519" cy="137160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30568" y="2002536"/>
            <a:ext cx="1655063" cy="11155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34D186"/>
                </a:solidFill>
                <a:latin typeface="Arial"/>
              </a:rPr>
              <a:t>0</a:t>
            </a:r>
          </a:p>
          <a:p>
            <a:pPr algn="ctr"/>
            <a:r>
              <a:rPr sz="1150" b="0">
                <a:solidFill>
                  <a:srgbClr val="6B7080"/>
                </a:solidFill>
                <a:latin typeface="Arial"/>
              </a:rPr>
              <a:t>замовлень на Bolt Food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474720"/>
            <a:ext cx="8046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F313F"/>
                </a:solidFill>
                <a:latin typeface="Arial"/>
              </a:rPr>
              <a:t>Висновок: </a:t>
            </a:r>
            <a:r>
              <a:rPr sz="1300" b="0">
                <a:solidFill>
                  <a:srgbClr val="6B7080"/>
                </a:solidFill>
                <a:latin typeface="Arial"/>
              </a:rPr>
              <a:t>сильний, стабільний попит на доставку зоотоварів — але </a:t>
            </a:r>
            <a:r>
              <a:rPr sz="1300" b="1">
                <a:solidFill>
                  <a:srgbClr val="34D186"/>
                </a:solidFill>
                <a:latin typeface="Arial"/>
              </a:rPr>
              <a:t>повністю поза Bolt Food</a:t>
            </a:r>
            <a:r>
              <a:rPr sz="1300" b="0">
                <a:solidFill>
                  <a:srgbClr val="6B7080"/>
                </a:solidFill>
                <a:latin typeface="Arial"/>
              </a:rPr>
              <a:t>. Це чистий новий канал продажів без канібалізації.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Джерело: Bolt internal data (Databricks) + Get Placed market scan, Jan–Apr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МОЖЛИВІСТЬ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Чому зараз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20208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Незайнятий канал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Master Zoo = 0 на Bolt Food. Кожне замовлення — інкрементальне, поверх Glovo.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63440" y="1874519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663440" y="1874519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19472" y="20208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Bolt Food росте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Замовлення на платформі ростуть двозначними темпами кв/кв в Україні.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33924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Pets — недопредставлені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Зоотовари майже відсутні в food-delivery. Низька конкуренція, висока лояльність.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246120"/>
            <a:ext cx="3931920" cy="123444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3246120"/>
            <a:ext cx="82296" cy="123444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19472" y="3392424"/>
            <a:ext cx="3566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2F313F"/>
                </a:solidFill>
                <a:latin typeface="Arial"/>
              </a:rPr>
              <a:t>Швидкий старт</a:t>
            </a:r>
          </a:p>
          <a:p>
            <a:r>
              <a:rPr sz="1150" b="0">
                <a:solidFill>
                  <a:srgbClr val="6B7080"/>
                </a:solidFill>
                <a:latin typeface="Arial"/>
              </a:rPr>
              <a:t>Інтеграція меню/каталогу й запуск у топ-містах за кілька тижнів.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АМБІЦІЯ · ЗАМОВЛЕННЯ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Помісячний план на 12 місяців</a:t>
            </a:r>
          </a:p>
        </p:txBody>
      </p:sp>
      <p:pic>
        <p:nvPicPr>
          <p:cNvPr id="5" name="Picture 4" descr="ord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417320"/>
            <a:ext cx="7680960" cy="30907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720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080"/>
                </a:solidFill>
                <a:latin typeface="Arial"/>
              </a:rPr>
              <a:t>Старт ~80 → </a:t>
            </a:r>
            <a:r>
              <a:rPr sz="1200" b="1">
                <a:solidFill>
                  <a:srgbClr val="34D186"/>
                </a:solidFill>
                <a:latin typeface="Arial"/>
              </a:rPr>
              <a:t>~670 замовлень/міс</a:t>
            </a:r>
            <a:r>
              <a:rPr sz="1200" b="0">
                <a:solidFill>
                  <a:srgbClr val="6B7080"/>
                </a:solidFill>
                <a:latin typeface="Arial"/>
              </a:rPr>
              <a:t> на 12-й місяць · рік 1 разом </a:t>
            </a:r>
            <a:r>
              <a:rPr sz="1200" b="1">
                <a:solidFill>
                  <a:srgbClr val="2F313F"/>
                </a:solidFill>
                <a:latin typeface="Arial"/>
              </a:rPr>
              <a:t>5 329 замовлень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Базова частка 12% обсягу Glovo (бенчмарк ритейл-мереж на Bolt). Прогноз модельний.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АМБІЦІЯ · GMV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GMV-потенціал, AOV €15</a:t>
            </a:r>
          </a:p>
        </p:txBody>
      </p:sp>
      <p:pic>
        <p:nvPicPr>
          <p:cNvPr id="5" name="Picture 4" descr="gm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" y="1371600"/>
            <a:ext cx="7680960" cy="30907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52628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080"/>
                </a:solidFill>
                <a:latin typeface="Arial"/>
              </a:rPr>
              <a:t>Рік 1: </a:t>
            </a:r>
            <a:r>
              <a:rPr sz="1300" b="1">
                <a:solidFill>
                  <a:srgbClr val="34D186"/>
                </a:solidFill>
                <a:latin typeface="Arial"/>
              </a:rPr>
              <a:t>€79 935</a:t>
            </a:r>
            <a:r>
              <a:rPr sz="1200" b="0">
                <a:solidFill>
                  <a:srgbClr val="6B7080"/>
                </a:solidFill>
                <a:latin typeface="Arial"/>
              </a:rPr>
              <a:t>  ·  річний run-rate на 12-й міс: </a:t>
            </a:r>
            <a:r>
              <a:rPr sz="1300" b="1">
                <a:solidFill>
                  <a:srgbClr val="2F313F"/>
                </a:solidFill>
                <a:latin typeface="Arial"/>
              </a:rPr>
              <a:t>€120 960/рік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GMV = замовлення × €15 AOV. Базовий сценарій.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СЦЕНАРІЇ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Три рівні амбіції — рік 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2514600" cy="2194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011680"/>
            <a:ext cx="21488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F313F"/>
                </a:solidFill>
                <a:latin typeface="Arial"/>
              </a:rPr>
              <a:t>Консервативний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8% обсягу Glovo</a:t>
            </a:r>
          </a:p>
          <a:p>
            <a:pPr algn="ctr"/>
            <a:r>
              <a:rPr sz="2600" b="1">
                <a:solidFill>
                  <a:srgbClr val="34D186"/>
                </a:solidFill>
                <a:latin typeface="Arial"/>
              </a:rPr>
              <a:t>€53 310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GMV рік 1</a:t>
            </a:r>
          </a:p>
          <a:p>
            <a:pPr algn="ctr"/>
            <a:r>
              <a:rPr sz="1200" b="1">
                <a:solidFill>
                  <a:srgbClr val="2F313F"/>
                </a:solidFill>
                <a:latin typeface="Arial"/>
              </a:rPr>
              <a:t>3 554 замовлень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46120" y="1828800"/>
            <a:ext cx="2514600" cy="21945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29000" y="2011680"/>
            <a:ext cx="21488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Базовий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12% обсягу Glovo</a:t>
            </a:r>
          </a:p>
          <a:p>
            <a:pPr algn="ctr"/>
            <a:r>
              <a:rPr sz="2600" b="1">
                <a:solidFill>
                  <a:srgbClr val="FFFFFF"/>
                </a:solidFill>
                <a:latin typeface="Arial"/>
              </a:rPr>
              <a:t>€79 935</a:t>
            </a:r>
          </a:p>
          <a:p>
            <a:pPr algn="ctr"/>
            <a:r>
              <a:rPr sz="1050" b="0">
                <a:solidFill>
                  <a:srgbClr val="FFFFFF"/>
                </a:solidFill>
                <a:latin typeface="Arial"/>
              </a:rPr>
              <a:t>GMV рік 1</a:t>
            </a:r>
          </a:p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5 329 замовлень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1828800"/>
            <a:ext cx="2514600" cy="2194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0" y="2011680"/>
            <a:ext cx="214884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F313F"/>
                </a:solidFill>
                <a:latin typeface="Arial"/>
              </a:rPr>
              <a:t>Амбітний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18% обсягу Glovo</a:t>
            </a:r>
          </a:p>
          <a:p>
            <a:pPr algn="ctr"/>
            <a:r>
              <a:rPr sz="2600" b="1">
                <a:solidFill>
                  <a:srgbClr val="34D186"/>
                </a:solidFill>
                <a:latin typeface="Arial"/>
              </a:rPr>
              <a:t>€119 925</a:t>
            </a:r>
          </a:p>
          <a:p>
            <a:pPr algn="ctr"/>
            <a:r>
              <a:rPr sz="1050" b="0">
                <a:solidFill>
                  <a:srgbClr val="6B7080"/>
                </a:solidFill>
                <a:latin typeface="Arial"/>
              </a:rPr>
              <a:t>GMV рік 1</a:t>
            </a:r>
          </a:p>
          <a:p>
            <a:pPr algn="ctr"/>
            <a:r>
              <a:rPr sz="1200" b="1">
                <a:solidFill>
                  <a:srgbClr val="2F313F"/>
                </a:solidFill>
                <a:latin typeface="Arial"/>
              </a:rPr>
              <a:t>7 995 замовлень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AOV €15. Базовий сценарій — рекомендований.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ПРОМО · ЯК РОЗГАНЯЄМО ЗАМОВЛЕННЯ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Промо-інструменти Bolt Food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94944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4944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Знижка на доставку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Частково або 0 ₴. №1 інструмент для залучення нових клієнтів.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96896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0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4912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Знижки на меню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На окремі позиції або весь асортимент — через API або від Bolt.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5152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791456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91456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73168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Когорти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Таргет на Нових / Втрачених / Активних — різний розмір знижки.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93408" y="1645920"/>
            <a:ext cx="1883664" cy="141732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839712" y="1792224"/>
            <a:ext cx="365760" cy="365760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39712" y="1810512"/>
            <a:ext cx="365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1424" y="2212848"/>
            <a:ext cx="162763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Банерна підтримка</a:t>
            </a:r>
          </a:p>
          <a:p>
            <a:r>
              <a:rPr sz="1000" b="0">
                <a:solidFill>
                  <a:srgbClr val="6B7080"/>
                </a:solidFill>
                <a:latin typeface="Arial"/>
              </a:rPr>
              <a:t>Банер у вкладці «Магазини» в періоди активних акцій.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246120"/>
            <a:ext cx="3886200" cy="1051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3246120"/>
            <a:ext cx="82296" cy="1051560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3383280"/>
            <a:ext cx="3520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Рекомендований старт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Безкоштовна доставка для нових клієнтів + MOV трохи вищий за середній чек.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3246120"/>
            <a:ext cx="3886200" cy="1051560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09160" y="3246120"/>
            <a:ext cx="82296" cy="1051560"/>
          </a:xfrm>
          <a:prstGeom prst="rect">
            <a:avLst/>
          </a:prstGeom>
          <a:solidFill>
            <a:srgbClr val="2F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0" y="3383280"/>
            <a:ext cx="3520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Оподаткування (ПДВ)</a:t>
            </a:r>
          </a:p>
          <a:p>
            <a:r>
              <a:rPr sz="1050" b="0">
                <a:solidFill>
                  <a:srgbClr val="6B7080"/>
                </a:solidFill>
                <a:latin typeface="Arial"/>
              </a:rPr>
              <a:t>Знижки через Bolt → +20% ПДВ. Через API (зміна цін партнером) → без ПДВ.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6B7080"/>
                </a:solidFill>
                <a:latin typeface="Arial"/>
              </a:rPr>
              <a:t>Джерело: гайд «Промо-активності на Bolt Food» для партнерів (Україна)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92608"/>
            <a:ext cx="1280160" cy="508814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02920" y="502920"/>
            <a:ext cx="457200" cy="64008"/>
          </a:xfrm>
          <a:prstGeom prst="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12648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34D186"/>
                </a:solidFill>
                <a:latin typeface="Arial"/>
              </a:rPr>
              <a:t>ЗАПУСК</a:t>
            </a:r>
          </a:p>
          <a:p>
            <a:r>
              <a:rPr sz="2700" b="1">
                <a:solidFill>
                  <a:srgbClr val="2F313F"/>
                </a:solidFill>
                <a:latin typeface="Arial"/>
              </a:rPr>
              <a:t>З чого починаємо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Топ-міста для старту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2768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Київ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2768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41%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6974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7340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Львів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7340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13%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1546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31912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Одеса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1912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6118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36484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Дніпро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36484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4%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69080"/>
            <a:ext cx="3840480" cy="384048"/>
          </a:xfrm>
          <a:prstGeom prst="roundRect">
            <a:avLst/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4105656"/>
            <a:ext cx="3200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2F313F"/>
                </a:solidFill>
                <a:latin typeface="Arial"/>
              </a:rPr>
              <a:t>Івано-Франківськ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105656"/>
            <a:ext cx="731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50" b="1">
                <a:solidFill>
                  <a:srgbClr val="34D186"/>
                </a:solidFill>
                <a:latin typeface="Arial"/>
              </a:rPr>
              <a:t>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54880" y="17830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2F313F"/>
                </a:solidFill>
                <a:latin typeface="Arial"/>
              </a:rPr>
              <a:t>Наступні кроки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54880" y="22402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22219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60" y="22037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Підтвердити інтерес і scope пілоту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26974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0" y="26791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6360" y="26609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Інтеграція каталогу та цін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754880" y="31546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0" y="31363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166360" y="31181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Запуск у топ-3 містах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754880" y="36118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0" y="35935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66360" y="35753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Спільний маркетинг на старті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54880" y="4069080"/>
            <a:ext cx="292608" cy="292608"/>
          </a:xfrm>
          <a:prstGeom prst="roundRect">
            <a:avLst/>
          </a:prstGeom>
          <a:solidFill>
            <a:srgbClr val="34D1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4880" y="405079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4032504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F313F"/>
                </a:solidFill>
                <a:latin typeface="Arial"/>
              </a:rPr>
              <a:t>Огляд результатів через 4 тижні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F3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bolt_food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1828800" cy="72687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192024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Arial"/>
              </a:rPr>
              <a:t>Готові запустити Master Zoo на Bolt Food</a:t>
            </a:r>
          </a:p>
          <a:p>
            <a:r>
              <a:rPr sz="1600" b="1">
                <a:solidFill>
                  <a:srgbClr val="34D186"/>
                </a:solidFill>
                <a:latin typeface="Arial"/>
              </a:rPr>
              <a:t>Рік 1: ~5 329 замовлень  ·  €79 935 GMV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AA0AC"/>
                </a:solidFill>
                <a:latin typeface="Arial"/>
              </a:rPr>
              <a:t>Дякуємо! Обговоримо деталі пілоту.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